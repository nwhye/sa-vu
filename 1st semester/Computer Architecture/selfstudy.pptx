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8" r:id="rId1"/>
  </p:sldMasterIdLst>
  <p:sldIdLst>
    <p:sldId id="256" r:id="rId2"/>
    <p:sldId id="257" r:id="rId3"/>
    <p:sldId id="266" r:id="rId4"/>
    <p:sldId id="267" r:id="rId5"/>
    <p:sldId id="258" r:id="rId6"/>
    <p:sldId id="259" r:id="rId7"/>
    <p:sldId id="260" r:id="rId8"/>
    <p:sldId id="261" r:id="rId9"/>
    <p:sldId id="262" r:id="rId10"/>
    <p:sldId id="264" r:id="rId11"/>
    <p:sldId id="263"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AB9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76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C0201-0F71-1389-CA9D-753AEF700D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A8EF759-64D6-6B9D-A428-88C62038B5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D3277E5B-7CFC-7C3C-7D73-1AB0BCB2676E}"/>
              </a:ext>
            </a:extLst>
          </p:cNvPr>
          <p:cNvSpPr>
            <a:spLocks noGrp="1"/>
          </p:cNvSpPr>
          <p:nvPr>
            <p:ph type="dt" sz="half" idx="10"/>
          </p:nvPr>
        </p:nvSpPr>
        <p:spPr/>
        <p:txBody>
          <a:bodyPr/>
          <a:lstStyle/>
          <a:p>
            <a:pPr algn="r"/>
            <a:fld id="{3F9AFA87-1417-4992-ABD9-27C3BC8CC883}" type="datetimeFigureOut">
              <a:rPr lang="en-US" smtClean="0"/>
              <a:pPr algn="r"/>
              <a:t>12/2/2022</a:t>
            </a:fld>
            <a:endParaRPr lang="en-US" dirty="0"/>
          </a:p>
        </p:txBody>
      </p:sp>
      <p:sp>
        <p:nvSpPr>
          <p:cNvPr id="5" name="Footer Placeholder 4">
            <a:extLst>
              <a:ext uri="{FF2B5EF4-FFF2-40B4-BE49-F238E27FC236}">
                <a16:creationId xmlns:a16="http://schemas.microsoft.com/office/drawing/2014/main" id="{1E95D4B5-AF8F-9BD4-9ACA-173DF8BD980B}"/>
              </a:ext>
            </a:extLst>
          </p:cNvPr>
          <p:cNvSpPr>
            <a:spLocks noGrp="1"/>
          </p:cNvSpPr>
          <p:nvPr>
            <p:ph type="ftr" sz="quarter" idx="11"/>
          </p:nvPr>
        </p:nvSpPr>
        <p:spPr/>
        <p:txBody>
          <a:bodyPr/>
          <a:lstStyle/>
          <a:p>
            <a:endParaRPr lang="en-US" sz="1000" dirty="0"/>
          </a:p>
        </p:txBody>
      </p:sp>
      <p:sp>
        <p:nvSpPr>
          <p:cNvPr id="6" name="Slide Number Placeholder 5">
            <a:extLst>
              <a:ext uri="{FF2B5EF4-FFF2-40B4-BE49-F238E27FC236}">
                <a16:creationId xmlns:a16="http://schemas.microsoft.com/office/drawing/2014/main" id="{6E27AD9F-25D1-AB42-7B48-1D34DB67B2D3}"/>
              </a:ext>
            </a:extLst>
          </p:cNvPr>
          <p:cNvSpPr>
            <a:spLocks noGrp="1"/>
          </p:cNvSpPr>
          <p:nvPr>
            <p:ph type="sldNum" sz="quarter" idx="12"/>
          </p:nvPr>
        </p:nvSpPr>
        <p:spPr/>
        <p:txBody>
          <a:bodyPr/>
          <a:lstStyle/>
          <a:p>
            <a:fld id="{CB1E4CB7-CB13-4810-BF18-BE31AFC64F93}" type="slidenum">
              <a:rPr lang="en-US" smtClean="0"/>
              <a:pPr/>
              <a:t>‹#›</a:t>
            </a:fld>
            <a:endParaRPr lang="en-US" sz="1000" dirty="0"/>
          </a:p>
        </p:txBody>
      </p:sp>
    </p:spTree>
    <p:extLst>
      <p:ext uri="{BB962C8B-B14F-4D97-AF65-F5344CB8AC3E}">
        <p14:creationId xmlns:p14="http://schemas.microsoft.com/office/powerpoint/2010/main" val="845044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A7C03-BA95-5335-E1C9-C2C6BFF6664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298C655-EB44-DCFE-D155-AC07C80F72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AEA6A72-51CD-6801-3347-749EFA557735}"/>
              </a:ext>
            </a:extLst>
          </p:cNvPr>
          <p:cNvSpPr>
            <a:spLocks noGrp="1"/>
          </p:cNvSpPr>
          <p:nvPr>
            <p:ph type="dt" sz="half" idx="10"/>
          </p:nvPr>
        </p:nvSpPr>
        <p:spPr/>
        <p:txBody>
          <a:bodyPr/>
          <a:lstStyle/>
          <a:p>
            <a:fld id="{3F9AFA87-1417-4992-ABD9-27C3BC8CC883}" type="datetimeFigureOut">
              <a:rPr lang="en-US" smtClean="0"/>
              <a:t>12/2/2022</a:t>
            </a:fld>
            <a:endParaRPr lang="en-US"/>
          </a:p>
        </p:txBody>
      </p:sp>
      <p:sp>
        <p:nvSpPr>
          <p:cNvPr id="5" name="Footer Placeholder 4">
            <a:extLst>
              <a:ext uri="{FF2B5EF4-FFF2-40B4-BE49-F238E27FC236}">
                <a16:creationId xmlns:a16="http://schemas.microsoft.com/office/drawing/2014/main" id="{92811150-FA52-93F2-3D98-492122383B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950233-2263-4D5B-265C-E19D64BC3FD8}"/>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952093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AAA76-4486-6FAD-F092-CA33CF5DAF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F08CD0C-977A-7CE5-6B81-2C4B2B1D4E0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3551DA4-515A-0A13-8BB4-269C7DCCF50F}"/>
              </a:ext>
            </a:extLst>
          </p:cNvPr>
          <p:cNvSpPr>
            <a:spLocks noGrp="1"/>
          </p:cNvSpPr>
          <p:nvPr>
            <p:ph type="dt" sz="half" idx="10"/>
          </p:nvPr>
        </p:nvSpPr>
        <p:spPr/>
        <p:txBody>
          <a:bodyPr/>
          <a:lstStyle/>
          <a:p>
            <a:fld id="{3F9AFA87-1417-4992-ABD9-27C3BC8CC883}" type="datetimeFigureOut">
              <a:rPr lang="en-US" smtClean="0"/>
              <a:t>12/2/2022</a:t>
            </a:fld>
            <a:endParaRPr lang="en-US"/>
          </a:p>
        </p:txBody>
      </p:sp>
      <p:sp>
        <p:nvSpPr>
          <p:cNvPr id="5" name="Footer Placeholder 4">
            <a:extLst>
              <a:ext uri="{FF2B5EF4-FFF2-40B4-BE49-F238E27FC236}">
                <a16:creationId xmlns:a16="http://schemas.microsoft.com/office/drawing/2014/main" id="{031DDFBB-5ECA-1D2E-4451-D2E7D2087A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4D5240-A0A2-E38E-D5DB-1D35EE4942D2}"/>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23412730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BC283-7462-55CF-1D84-A7FE69362AC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5A749AB-05E8-FE24-4031-FFC7466326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C5B22C0-072B-F8E9-887D-1EEF39F415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91E8C37-E593-262A-667F-1414F846AF54}"/>
              </a:ext>
            </a:extLst>
          </p:cNvPr>
          <p:cNvSpPr>
            <a:spLocks noGrp="1"/>
          </p:cNvSpPr>
          <p:nvPr>
            <p:ph type="dt" sz="half" idx="10"/>
          </p:nvPr>
        </p:nvSpPr>
        <p:spPr/>
        <p:txBody>
          <a:bodyPr/>
          <a:lstStyle/>
          <a:p>
            <a:fld id="{3F9AFA87-1417-4992-ABD9-27C3BC8CC883}" type="datetimeFigureOut">
              <a:rPr lang="en-US" smtClean="0"/>
              <a:t>12/2/2022</a:t>
            </a:fld>
            <a:endParaRPr lang="en-US" dirty="0"/>
          </a:p>
        </p:txBody>
      </p:sp>
      <p:sp>
        <p:nvSpPr>
          <p:cNvPr id="6" name="Footer Placeholder 5">
            <a:extLst>
              <a:ext uri="{FF2B5EF4-FFF2-40B4-BE49-F238E27FC236}">
                <a16:creationId xmlns:a16="http://schemas.microsoft.com/office/drawing/2014/main" id="{59AD781C-FDAE-FF78-63AC-54B3243E569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4D6C597-2A5F-B62F-ED94-0C56EF893AA6}"/>
              </a:ext>
            </a:extLst>
          </p:cNvPr>
          <p:cNvSpPr>
            <a:spLocks noGrp="1"/>
          </p:cNvSpPr>
          <p:nvPr>
            <p:ph type="sldNum" sz="quarter" idx="12"/>
          </p:nvPr>
        </p:nvSpPr>
        <p:spPr/>
        <p:txBody>
          <a:bodyPr/>
          <a:lstStyle/>
          <a:p>
            <a:fld id="{CB1E4CB7-CB13-4810-BF18-BE31AFC64F93}" type="slidenum">
              <a:rPr lang="en-US" smtClean="0"/>
              <a:t>‹#›</a:t>
            </a:fld>
            <a:endParaRPr lang="en-US" dirty="0"/>
          </a:p>
        </p:txBody>
      </p:sp>
    </p:spTree>
    <p:extLst>
      <p:ext uri="{BB962C8B-B14F-4D97-AF65-F5344CB8AC3E}">
        <p14:creationId xmlns:p14="http://schemas.microsoft.com/office/powerpoint/2010/main" val="12565764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25C15-F720-C09B-7258-B655055BAF8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EBFF3C8-DF52-7A6C-9F00-1ECA264841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98E129-EE0A-F623-8A35-9660154184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1B35C89-9D9F-10F2-2CFB-8766A8B9820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E8C766-BD6D-D631-87F3-358771DB102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39F7860-9F4F-3389-DAC8-5179738A3D7A}"/>
              </a:ext>
            </a:extLst>
          </p:cNvPr>
          <p:cNvSpPr>
            <a:spLocks noGrp="1"/>
          </p:cNvSpPr>
          <p:nvPr>
            <p:ph type="dt" sz="half" idx="10"/>
          </p:nvPr>
        </p:nvSpPr>
        <p:spPr/>
        <p:txBody>
          <a:bodyPr/>
          <a:lstStyle/>
          <a:p>
            <a:fld id="{3F9AFA87-1417-4992-ABD9-27C3BC8CC883}" type="datetimeFigureOut">
              <a:rPr lang="en-US" smtClean="0"/>
              <a:t>12/2/2022</a:t>
            </a:fld>
            <a:endParaRPr lang="en-US"/>
          </a:p>
        </p:txBody>
      </p:sp>
      <p:sp>
        <p:nvSpPr>
          <p:cNvPr id="8" name="Footer Placeholder 7">
            <a:extLst>
              <a:ext uri="{FF2B5EF4-FFF2-40B4-BE49-F238E27FC236}">
                <a16:creationId xmlns:a16="http://schemas.microsoft.com/office/drawing/2014/main" id="{82B60629-D15E-848E-8995-2AF648495F4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8A1FF0C-E78E-262A-3469-7A9C9834D788}"/>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31169132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9AD52-BC48-5ED1-ED1F-42A2D783D7B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BF16475C-D209-B0E3-2A44-2F07CAC55455}"/>
              </a:ext>
            </a:extLst>
          </p:cNvPr>
          <p:cNvSpPr>
            <a:spLocks noGrp="1"/>
          </p:cNvSpPr>
          <p:nvPr>
            <p:ph type="dt" sz="half" idx="10"/>
          </p:nvPr>
        </p:nvSpPr>
        <p:spPr/>
        <p:txBody>
          <a:bodyPr/>
          <a:lstStyle/>
          <a:p>
            <a:fld id="{3F9AFA87-1417-4992-ABD9-27C3BC8CC883}" type="datetimeFigureOut">
              <a:rPr lang="en-US" smtClean="0"/>
              <a:t>12/2/2022</a:t>
            </a:fld>
            <a:endParaRPr lang="en-US"/>
          </a:p>
        </p:txBody>
      </p:sp>
      <p:sp>
        <p:nvSpPr>
          <p:cNvPr id="4" name="Footer Placeholder 3">
            <a:extLst>
              <a:ext uri="{FF2B5EF4-FFF2-40B4-BE49-F238E27FC236}">
                <a16:creationId xmlns:a16="http://schemas.microsoft.com/office/drawing/2014/main" id="{4EEC38EA-5DF2-F23C-B3A0-7151DE64EE4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1AFD64-F79B-5795-B1F9-78D3B7D769B1}"/>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4823472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4042CD-F7E8-1D2A-EA05-F50473FE02C4}"/>
              </a:ext>
            </a:extLst>
          </p:cNvPr>
          <p:cNvSpPr>
            <a:spLocks noGrp="1"/>
          </p:cNvSpPr>
          <p:nvPr>
            <p:ph type="dt" sz="half" idx="10"/>
          </p:nvPr>
        </p:nvSpPr>
        <p:spPr/>
        <p:txBody>
          <a:bodyPr/>
          <a:lstStyle/>
          <a:p>
            <a:fld id="{3F9AFA87-1417-4992-ABD9-27C3BC8CC883}" type="datetimeFigureOut">
              <a:rPr lang="en-US" smtClean="0"/>
              <a:t>12/2/2022</a:t>
            </a:fld>
            <a:endParaRPr lang="en-US"/>
          </a:p>
        </p:txBody>
      </p:sp>
      <p:sp>
        <p:nvSpPr>
          <p:cNvPr id="3" name="Footer Placeholder 2">
            <a:extLst>
              <a:ext uri="{FF2B5EF4-FFF2-40B4-BE49-F238E27FC236}">
                <a16:creationId xmlns:a16="http://schemas.microsoft.com/office/drawing/2014/main" id="{0A04BE4A-C13D-365B-4E85-C6F5DF44036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852BFF9-8DA5-9E53-BBFF-3F1F7A33047D}"/>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2698531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35996-D0C5-F9B2-0C48-F0BB34C296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856EE88-1640-1575-C50E-342781E970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C0888B8-6A25-6E46-BFD7-D83EC5797E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E80A79-8DC6-DFD1-16FA-7EAB9B00781F}"/>
              </a:ext>
            </a:extLst>
          </p:cNvPr>
          <p:cNvSpPr>
            <a:spLocks noGrp="1"/>
          </p:cNvSpPr>
          <p:nvPr>
            <p:ph type="dt" sz="half" idx="10"/>
          </p:nvPr>
        </p:nvSpPr>
        <p:spPr/>
        <p:txBody>
          <a:bodyPr/>
          <a:lstStyle/>
          <a:p>
            <a:fld id="{3F9AFA87-1417-4992-ABD9-27C3BC8CC883}" type="datetimeFigureOut">
              <a:rPr lang="en-US" smtClean="0"/>
              <a:t>12/2/2022</a:t>
            </a:fld>
            <a:endParaRPr lang="en-US"/>
          </a:p>
        </p:txBody>
      </p:sp>
      <p:sp>
        <p:nvSpPr>
          <p:cNvPr id="6" name="Footer Placeholder 5">
            <a:extLst>
              <a:ext uri="{FF2B5EF4-FFF2-40B4-BE49-F238E27FC236}">
                <a16:creationId xmlns:a16="http://schemas.microsoft.com/office/drawing/2014/main" id="{020ECF83-7585-88E4-D2D8-46B22C0E5B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91AA43-10A0-A702-698F-6C1B495F6D22}"/>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2064062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83C5B-AC55-44CF-9E0E-85070F65D9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9721DBFE-1BF2-DD8B-5485-272B9648B2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D797D7F-768B-6B4B-A1C5-A12696BF5E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4089AD-2A44-0A54-A3AB-F6E5ECA7F504}"/>
              </a:ext>
            </a:extLst>
          </p:cNvPr>
          <p:cNvSpPr>
            <a:spLocks noGrp="1"/>
          </p:cNvSpPr>
          <p:nvPr>
            <p:ph type="dt" sz="half" idx="10"/>
          </p:nvPr>
        </p:nvSpPr>
        <p:spPr/>
        <p:txBody>
          <a:bodyPr/>
          <a:lstStyle/>
          <a:p>
            <a:fld id="{3F9AFA87-1417-4992-ABD9-27C3BC8CC883}" type="datetimeFigureOut">
              <a:rPr lang="en-US" smtClean="0"/>
              <a:t>12/2/2022</a:t>
            </a:fld>
            <a:endParaRPr lang="en-US"/>
          </a:p>
        </p:txBody>
      </p:sp>
      <p:sp>
        <p:nvSpPr>
          <p:cNvPr id="6" name="Footer Placeholder 5">
            <a:extLst>
              <a:ext uri="{FF2B5EF4-FFF2-40B4-BE49-F238E27FC236}">
                <a16:creationId xmlns:a16="http://schemas.microsoft.com/office/drawing/2014/main" id="{2B4EAD22-D0A8-C3C1-F2B6-A671250DED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3F258E-5C96-99E5-58F8-71ABDF6642DC}"/>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1426887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5356C-C5F0-6DF5-73D4-D3E3C32FDB1D}"/>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6D85D07-9B47-4AD3-88F7-CD29CAD97F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847724F-5BD1-D74A-3B71-D666F2F603DA}"/>
              </a:ext>
            </a:extLst>
          </p:cNvPr>
          <p:cNvSpPr>
            <a:spLocks noGrp="1"/>
          </p:cNvSpPr>
          <p:nvPr>
            <p:ph type="dt" sz="half" idx="10"/>
          </p:nvPr>
        </p:nvSpPr>
        <p:spPr/>
        <p:txBody>
          <a:bodyPr/>
          <a:lstStyle/>
          <a:p>
            <a:fld id="{3F9AFA87-1417-4992-ABD9-27C3BC8CC883}" type="datetimeFigureOut">
              <a:rPr lang="en-US" smtClean="0"/>
              <a:t>12/2/2022</a:t>
            </a:fld>
            <a:endParaRPr lang="en-US"/>
          </a:p>
        </p:txBody>
      </p:sp>
      <p:sp>
        <p:nvSpPr>
          <p:cNvPr id="5" name="Footer Placeholder 4">
            <a:extLst>
              <a:ext uri="{FF2B5EF4-FFF2-40B4-BE49-F238E27FC236}">
                <a16:creationId xmlns:a16="http://schemas.microsoft.com/office/drawing/2014/main" id="{730E9E8D-BCC1-36E8-6320-44E9C2CBCE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617CCE-8EE1-860F-4D88-D5F57C3A386D}"/>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30148841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961D9F-9EDA-B23F-AC05-943CD815932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35D4D5E-70D1-3A51-3D1E-510CAEA446F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0366040-30CB-2BFD-651B-276B263997F2}"/>
              </a:ext>
            </a:extLst>
          </p:cNvPr>
          <p:cNvSpPr>
            <a:spLocks noGrp="1"/>
          </p:cNvSpPr>
          <p:nvPr>
            <p:ph type="dt" sz="half" idx="10"/>
          </p:nvPr>
        </p:nvSpPr>
        <p:spPr/>
        <p:txBody>
          <a:bodyPr/>
          <a:lstStyle/>
          <a:p>
            <a:fld id="{3F9AFA87-1417-4992-ABD9-27C3BC8CC883}" type="datetimeFigureOut">
              <a:rPr lang="en-US" smtClean="0"/>
              <a:t>12/2/2022</a:t>
            </a:fld>
            <a:endParaRPr lang="en-US"/>
          </a:p>
        </p:txBody>
      </p:sp>
      <p:sp>
        <p:nvSpPr>
          <p:cNvPr id="5" name="Footer Placeholder 4">
            <a:extLst>
              <a:ext uri="{FF2B5EF4-FFF2-40B4-BE49-F238E27FC236}">
                <a16:creationId xmlns:a16="http://schemas.microsoft.com/office/drawing/2014/main" id="{025A8943-2C5B-50D3-12F2-C6E2A84CD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1D670C-4970-9758-6838-338179BDC52A}"/>
              </a:ext>
            </a:extLst>
          </p:cNvPr>
          <p:cNvSpPr>
            <a:spLocks noGrp="1"/>
          </p:cNvSpPr>
          <p:nvPr>
            <p:ph type="sldNum" sz="quarter" idx="12"/>
          </p:nvPr>
        </p:nvSpPr>
        <p:spPr/>
        <p:txBody>
          <a:bodyPr/>
          <a:lstStyle/>
          <a:p>
            <a:fld id="{CB1E4CB7-CB13-4810-BF18-BE31AFC64F93}" type="slidenum">
              <a:rPr lang="en-US" smtClean="0"/>
              <a:t>‹#›</a:t>
            </a:fld>
            <a:endParaRPr lang="en-US"/>
          </a:p>
        </p:txBody>
      </p:sp>
    </p:spTree>
    <p:extLst>
      <p:ext uri="{BB962C8B-B14F-4D97-AF65-F5344CB8AC3E}">
        <p14:creationId xmlns:p14="http://schemas.microsoft.com/office/powerpoint/2010/main" val="274477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92118C-8447-014B-3815-CCCF1E9445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4B069AF-640C-CBBD-CA9E-3C793204047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14AE22A-FFEB-AEF3-D8E8-20B1527FCA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lgn="r"/>
            <a:fld id="{3F9AFA87-1417-4992-ABD9-27C3BC8CC883}" type="datetimeFigureOut">
              <a:rPr lang="en-US" smtClean="0"/>
              <a:pPr algn="r"/>
              <a:t>12/2/2022</a:t>
            </a:fld>
            <a:endParaRPr lang="en-US" dirty="0"/>
          </a:p>
        </p:txBody>
      </p:sp>
      <p:sp>
        <p:nvSpPr>
          <p:cNvPr id="5" name="Footer Placeholder 4">
            <a:extLst>
              <a:ext uri="{FF2B5EF4-FFF2-40B4-BE49-F238E27FC236}">
                <a16:creationId xmlns:a16="http://schemas.microsoft.com/office/drawing/2014/main" id="{F620DCED-F6C3-13DA-2D9A-D568FB392F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sz="1000" dirty="0"/>
          </a:p>
        </p:txBody>
      </p:sp>
      <p:sp>
        <p:nvSpPr>
          <p:cNvPr id="6" name="Slide Number Placeholder 5">
            <a:extLst>
              <a:ext uri="{FF2B5EF4-FFF2-40B4-BE49-F238E27FC236}">
                <a16:creationId xmlns:a16="http://schemas.microsoft.com/office/drawing/2014/main" id="{8A454BFF-C3DE-9A63-DD33-C33455E98F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1E4CB7-CB13-4810-BF18-BE31AFC64F93}" type="slidenum">
              <a:rPr lang="en-US" smtClean="0"/>
              <a:pPr/>
              <a:t>‹#›</a:t>
            </a:fld>
            <a:endParaRPr lang="en-US" sz="1000" dirty="0"/>
          </a:p>
        </p:txBody>
      </p:sp>
    </p:spTree>
    <p:extLst>
      <p:ext uri="{BB962C8B-B14F-4D97-AF65-F5344CB8AC3E}">
        <p14:creationId xmlns:p14="http://schemas.microsoft.com/office/powerpoint/2010/main" val="3361292300"/>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9CBDA-18C8-C4AE-41B9-3FDD62E21A51}"/>
              </a:ext>
            </a:extLst>
          </p:cNvPr>
          <p:cNvSpPr>
            <a:spLocks noGrp="1"/>
          </p:cNvSpPr>
          <p:nvPr>
            <p:ph type="ctrTitle"/>
          </p:nvPr>
        </p:nvSpPr>
        <p:spPr>
          <a:xfrm>
            <a:off x="6047980" y="1030406"/>
            <a:ext cx="5068121" cy="3506879"/>
          </a:xfrm>
        </p:spPr>
        <p:txBody>
          <a:bodyPr anchor="ctr">
            <a:normAutofit/>
          </a:bodyPr>
          <a:lstStyle/>
          <a:p>
            <a:pPr algn="l"/>
            <a:r>
              <a:rPr lang="en-GB" dirty="0">
                <a:latin typeface="Times New Roman" panose="02020603050405020304" pitchFamily="18" charset="0"/>
                <a:cs typeface="Times New Roman" panose="02020603050405020304" pitchFamily="18" charset="0"/>
              </a:rPr>
              <a:t>High-end laptop</a:t>
            </a:r>
          </a:p>
        </p:txBody>
      </p:sp>
      <p:sp>
        <p:nvSpPr>
          <p:cNvPr id="3" name="Subtitle 2">
            <a:extLst>
              <a:ext uri="{FF2B5EF4-FFF2-40B4-BE49-F238E27FC236}">
                <a16:creationId xmlns:a16="http://schemas.microsoft.com/office/drawing/2014/main" id="{61BF3539-4644-7D61-2D34-0FC12DBE8EC7}"/>
              </a:ext>
            </a:extLst>
          </p:cNvPr>
          <p:cNvSpPr>
            <a:spLocks noGrp="1"/>
          </p:cNvSpPr>
          <p:nvPr>
            <p:ph type="subTitle" idx="1"/>
          </p:nvPr>
        </p:nvSpPr>
        <p:spPr>
          <a:xfrm>
            <a:off x="6047980" y="4691564"/>
            <a:ext cx="5068121" cy="1136029"/>
          </a:xfrm>
        </p:spPr>
        <p:txBody>
          <a:bodyPr>
            <a:normAutofit/>
          </a:bodyPr>
          <a:lstStyle/>
          <a:p>
            <a:pPr algn="l"/>
            <a:r>
              <a:rPr lang="en-GB" dirty="0">
                <a:latin typeface="Times New Roman" panose="02020603050405020304" pitchFamily="18" charset="0"/>
                <a:cs typeface="Times New Roman" panose="02020603050405020304" pitchFamily="18" charset="0"/>
              </a:rPr>
              <a:t>Asiadouskaya Hanna</a:t>
            </a:r>
          </a:p>
        </p:txBody>
      </p:sp>
      <p:pic>
        <p:nvPicPr>
          <p:cNvPr id="4" name="Picture 3" descr="Yellow minimal concept of an office">
            <a:extLst>
              <a:ext uri="{FF2B5EF4-FFF2-40B4-BE49-F238E27FC236}">
                <a16:creationId xmlns:a16="http://schemas.microsoft.com/office/drawing/2014/main" id="{1446A242-9003-F447-E95E-7624095E496A}"/>
              </a:ext>
            </a:extLst>
          </p:cNvPr>
          <p:cNvPicPr>
            <a:picLocks noChangeAspect="1"/>
          </p:cNvPicPr>
          <p:nvPr/>
        </p:nvPicPr>
        <p:blipFill rotWithShape="1">
          <a:blip r:embed="rId2"/>
          <a:srcRect l="26028" r="21566"/>
          <a:stretch/>
        </p:blipFill>
        <p:spPr>
          <a:xfrm>
            <a:off x="20" y="10"/>
            <a:ext cx="5404493" cy="6857990"/>
          </a:xfrm>
          <a:prstGeom prst="rect">
            <a:avLst/>
          </a:prstGeom>
          <a:solidFill>
            <a:srgbClr val="EAB92C"/>
          </a:solidFill>
        </p:spPr>
      </p:pic>
    </p:spTree>
    <p:extLst>
      <p:ext uri="{BB962C8B-B14F-4D97-AF65-F5344CB8AC3E}">
        <p14:creationId xmlns:p14="http://schemas.microsoft.com/office/powerpoint/2010/main" val="24558224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1371CF-08FD-77BE-8A39-B37F2D8BDF7D}"/>
              </a:ext>
            </a:extLst>
          </p:cNvPr>
          <p:cNvSpPr>
            <a:spLocks noGrp="1"/>
          </p:cNvSpPr>
          <p:nvPr>
            <p:ph type="title"/>
          </p:nvPr>
        </p:nvSpPr>
        <p:spPr/>
        <p:txBody>
          <a:bodyPr/>
          <a:lstStyle/>
          <a:p>
            <a:r>
              <a:rPr lang="en-GB" b="0" i="0" dirty="0">
                <a:effectLst/>
                <a:latin typeface="Times New Roman" panose="02020603050405020304" pitchFamily="18" charset="0"/>
                <a:cs typeface="Times New Roman" panose="02020603050405020304" pitchFamily="18" charset="0"/>
              </a:rPr>
              <a:t>What does high-end laptop mean?</a:t>
            </a:r>
            <a:endParaRPr lang="en-GB"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BAEA6E79-FB2E-40B6-2576-FF2360D2B635}"/>
              </a:ext>
            </a:extLst>
          </p:cNvPr>
          <p:cNvSpPr>
            <a:spLocks noGrp="1"/>
          </p:cNvSpPr>
          <p:nvPr>
            <p:ph idx="1"/>
          </p:nvPr>
        </p:nvSpPr>
        <p:spPr>
          <a:xfrm>
            <a:off x="838201" y="2696775"/>
            <a:ext cx="10323064" cy="2098591"/>
          </a:xfrm>
        </p:spPr>
        <p:txBody>
          <a:bodyPr>
            <a:normAutofit/>
          </a:bodyPr>
          <a:lstStyle/>
          <a:p>
            <a:pPr marL="0" indent="0" algn="l">
              <a:buNone/>
            </a:pPr>
            <a:r>
              <a:rPr lang="en-GB" sz="2400" i="0" dirty="0">
                <a:effectLst/>
                <a:latin typeface="Times New Roman" panose="02020603050405020304" pitchFamily="18" charset="0"/>
                <a:cs typeface="Times New Roman" panose="02020603050405020304" pitchFamily="18" charset="0"/>
              </a:rPr>
              <a:t>A laptop with top-shelf hardware is a high-end laptop. </a:t>
            </a:r>
            <a:r>
              <a:rPr lang="en-GB" sz="2400" b="0" i="0" dirty="0">
                <a:effectLst/>
                <a:latin typeface="Times New Roman" panose="02020603050405020304" pitchFamily="18" charset="0"/>
                <a:cs typeface="Times New Roman" panose="02020603050405020304" pitchFamily="18" charset="0"/>
              </a:rPr>
              <a:t>The main reason why you'll pay more for a computer because </a:t>
            </a:r>
            <a:r>
              <a:rPr lang="en-GB" sz="2400" b="1" i="0" dirty="0">
                <a:effectLst/>
                <a:latin typeface="Times New Roman" panose="02020603050405020304" pitchFamily="18" charset="0"/>
                <a:cs typeface="Times New Roman" panose="02020603050405020304" pitchFamily="18" charset="0"/>
              </a:rPr>
              <a:t>it includes more expensive parts</a:t>
            </a:r>
            <a:r>
              <a:rPr lang="en-GB" sz="2400" b="0" i="0" dirty="0">
                <a:effectLst/>
                <a:latin typeface="Times New Roman" panose="02020603050405020304" pitchFamily="18" charset="0"/>
                <a:cs typeface="Times New Roman" panose="02020603050405020304" pitchFamily="18" charset="0"/>
              </a:rPr>
              <a:t>. Workstations built for pros contain professional-grade features such as Intel processors, NVIDIA graphics cards, top-notch audio, photo and video editing resolutions and low-latency memory.</a:t>
            </a:r>
          </a:p>
          <a:p>
            <a:pPr marL="0" indent="0">
              <a:buNone/>
            </a:pPr>
            <a:endParaRPr lang="en-GB" sz="24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2EF676AF-FC9B-92E2-AC9D-CE5D5CD081D1}"/>
              </a:ext>
            </a:extLst>
          </p:cNvPr>
          <p:cNvSpPr/>
          <p:nvPr/>
        </p:nvSpPr>
        <p:spPr>
          <a:xfrm>
            <a:off x="0" y="225951"/>
            <a:ext cx="732749" cy="1599674"/>
          </a:xfrm>
          <a:prstGeom prst="rect">
            <a:avLst/>
          </a:prstGeom>
          <a:solidFill>
            <a:srgbClr val="EAB92C"/>
          </a:solidFill>
          <a:ln>
            <a:solidFill>
              <a:srgbClr val="EAB9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135684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1371CF-08FD-77BE-8A39-B37F2D8BDF7D}"/>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Barebones Laptop</a:t>
            </a:r>
          </a:p>
        </p:txBody>
      </p:sp>
      <p:sp>
        <p:nvSpPr>
          <p:cNvPr id="5" name="Content Placeholder 4">
            <a:extLst>
              <a:ext uri="{FF2B5EF4-FFF2-40B4-BE49-F238E27FC236}">
                <a16:creationId xmlns:a16="http://schemas.microsoft.com/office/drawing/2014/main" id="{BAEA6E79-FB2E-40B6-2576-FF2360D2B635}"/>
              </a:ext>
            </a:extLst>
          </p:cNvPr>
          <p:cNvSpPr>
            <a:spLocks noGrp="1"/>
          </p:cNvSpPr>
          <p:nvPr>
            <p:ph idx="1"/>
          </p:nvPr>
        </p:nvSpPr>
        <p:spPr>
          <a:xfrm>
            <a:off x="893460" y="1944288"/>
            <a:ext cx="9897857" cy="4351338"/>
          </a:xfrm>
        </p:spPr>
        <p:txBody>
          <a:bodyPr>
            <a:normAutofit/>
          </a:bodyPr>
          <a:lstStyle/>
          <a:p>
            <a:pPr marL="0" indent="0">
              <a:buNone/>
            </a:pPr>
            <a:r>
              <a:rPr lang="en-GB" sz="2400" dirty="0">
                <a:latin typeface="Times New Roman" panose="02020603050405020304" pitchFamily="18" charset="0"/>
                <a:cs typeface="Times New Roman" panose="02020603050405020304" pitchFamily="18" charset="0"/>
              </a:rPr>
              <a:t>A barebones laptop is a half-assembled personal computer with a laptop shell, power supply, motherboard, camera, keyboard and cooling system.</a:t>
            </a:r>
          </a:p>
          <a:p>
            <a:pPr marL="0" indent="0">
              <a:buNone/>
            </a:pPr>
            <a:r>
              <a:rPr lang="en-GB" sz="2400" dirty="0">
                <a:latin typeface="Times New Roman" panose="02020603050405020304" pitchFamily="18" charset="0"/>
                <a:cs typeface="Times New Roman" panose="02020603050405020304" pitchFamily="18" charset="0"/>
              </a:rPr>
              <a:t>Users can decide which component (CPU, memory, storage devices) to buy and install, according to their own needs and budget.</a:t>
            </a:r>
          </a:p>
          <a:p>
            <a:pPr marL="0" indent="0">
              <a:buNone/>
            </a:pPr>
            <a:r>
              <a:rPr lang="en-GB" sz="2400" dirty="0">
                <a:latin typeface="Times New Roman" panose="02020603050405020304" pitchFamily="18" charset="0"/>
                <a:cs typeface="Times New Roman" panose="02020603050405020304" pitchFamily="18" charset="0"/>
              </a:rPr>
              <a:t>They are usually produced by Original Design Manufacture (ODM) like Quanta, Compal, Wistron, </a:t>
            </a:r>
            <a:r>
              <a:rPr lang="en-GB" sz="2400" dirty="0" err="1">
                <a:latin typeface="Times New Roman" panose="02020603050405020304" pitchFamily="18" charset="0"/>
                <a:cs typeface="Times New Roman" panose="02020603050405020304" pitchFamily="18" charset="0"/>
              </a:rPr>
              <a:t>Clevo</a:t>
            </a:r>
            <a:r>
              <a:rPr lang="en-GB" sz="2400" dirty="0">
                <a:latin typeface="Times New Roman" panose="02020603050405020304" pitchFamily="18" charset="0"/>
                <a:cs typeface="Times New Roman" panose="02020603050405020304" pitchFamily="18" charset="0"/>
              </a:rPr>
              <a:t> or MSI. </a:t>
            </a:r>
            <a:r>
              <a:rPr lang="en-GB" sz="2400" b="0" i="0" dirty="0">
                <a:effectLst/>
                <a:latin typeface="Times New Roman" panose="02020603050405020304" pitchFamily="18" charset="0"/>
                <a:cs typeface="Times New Roman" panose="02020603050405020304" pitchFamily="18" charset="0"/>
              </a:rPr>
              <a:t>These ODM companies produce PCs for some brands (OEM) like Dell, HP, Lenovo, Acer, Mac, etc. Then, these products will be sold to users as OEM products.</a:t>
            </a:r>
            <a:endParaRPr lang="en-GB" sz="24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2EF676AF-FC9B-92E2-AC9D-CE5D5CD081D1}"/>
              </a:ext>
            </a:extLst>
          </p:cNvPr>
          <p:cNvSpPr/>
          <p:nvPr/>
        </p:nvSpPr>
        <p:spPr>
          <a:xfrm>
            <a:off x="0" y="225951"/>
            <a:ext cx="732749" cy="1599674"/>
          </a:xfrm>
          <a:prstGeom prst="rect">
            <a:avLst/>
          </a:prstGeom>
          <a:solidFill>
            <a:srgbClr val="EAB92C"/>
          </a:solidFill>
          <a:ln>
            <a:solidFill>
              <a:srgbClr val="EAB9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72678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Graphical user interface, website&#10;&#10;Description automatically generated">
            <a:extLst>
              <a:ext uri="{FF2B5EF4-FFF2-40B4-BE49-F238E27FC236}">
                <a16:creationId xmlns:a16="http://schemas.microsoft.com/office/drawing/2014/main" id="{01B04826-1753-4AE7-1491-4F5BB8EE191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235406" y="1034886"/>
            <a:ext cx="4226690" cy="4351338"/>
          </a:xfrm>
        </p:spPr>
      </p:pic>
      <p:sp>
        <p:nvSpPr>
          <p:cNvPr id="6" name="TextBox 5">
            <a:extLst>
              <a:ext uri="{FF2B5EF4-FFF2-40B4-BE49-F238E27FC236}">
                <a16:creationId xmlns:a16="http://schemas.microsoft.com/office/drawing/2014/main" id="{5807CEE8-4B66-E354-3A5F-41E02C03859E}"/>
              </a:ext>
            </a:extLst>
          </p:cNvPr>
          <p:cNvSpPr txBox="1"/>
          <p:nvPr/>
        </p:nvSpPr>
        <p:spPr>
          <a:xfrm>
            <a:off x="865540" y="797510"/>
            <a:ext cx="6128574" cy="5262979"/>
          </a:xfrm>
          <a:prstGeom prst="rect">
            <a:avLst/>
          </a:prstGeom>
          <a:noFill/>
        </p:spPr>
        <p:txBody>
          <a:bodyPr wrap="square" rtlCol="0">
            <a:spAutoFit/>
          </a:bodyPr>
          <a:lstStyle/>
          <a:p>
            <a:pPr algn="l"/>
            <a:r>
              <a:rPr lang="en-GB" sz="2400" dirty="0">
                <a:latin typeface="Times New Roman" panose="02020603050405020304" pitchFamily="18" charset="0"/>
                <a:cs typeface="Times New Roman" panose="02020603050405020304" pitchFamily="18" charset="0"/>
              </a:rPr>
              <a:t>More often barebone laptops goes with CPU or/and graphic card. So, t</a:t>
            </a:r>
            <a:r>
              <a:rPr lang="en-GB" sz="2400" i="0" dirty="0">
                <a:effectLst/>
                <a:latin typeface="Times New Roman" panose="02020603050405020304" pitchFamily="18" charset="0"/>
                <a:cs typeface="Times New Roman" panose="02020603050405020304" pitchFamily="18" charset="0"/>
              </a:rPr>
              <a:t>o choose a proper barebones laptop, you should pay attention to the following aspects: whether the CPU and the graphics card are replaceable, the maximum number and capacity of memory it supports, the number of hard disk interfaces, the types of hard disk it supports, the screen interface, etc.</a:t>
            </a:r>
          </a:p>
          <a:p>
            <a:pPr algn="l"/>
            <a:r>
              <a:rPr lang="en-GB" sz="2400" i="0" dirty="0">
                <a:effectLst/>
                <a:latin typeface="Times New Roman" panose="02020603050405020304" pitchFamily="18" charset="0"/>
                <a:cs typeface="Times New Roman" panose="02020603050405020304" pitchFamily="18" charset="0"/>
              </a:rPr>
              <a:t>If the barebones laptop has enough interfaces or its hardware is replaceable, you have the opportunity to increase its performance again, just by spending money on the replacement of partial hardware</a:t>
            </a:r>
          </a:p>
          <a:p>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1811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1371CF-08FD-77BE-8A39-B37F2D8BDF7D}"/>
              </a:ext>
            </a:extLst>
          </p:cNvPr>
          <p:cNvSpPr>
            <a:spLocks noGrp="1"/>
          </p:cNvSpPr>
          <p:nvPr>
            <p:ph type="title"/>
          </p:nvPr>
        </p:nvSpPr>
        <p:spPr/>
        <p:txBody>
          <a:bodyPr/>
          <a:lstStyle/>
          <a:p>
            <a:r>
              <a:rPr lang="en-GB" b="0" i="0" dirty="0">
                <a:effectLst/>
                <a:latin typeface="Times New Roman" panose="02020603050405020304" pitchFamily="18" charset="0"/>
                <a:cs typeface="Times New Roman" panose="02020603050405020304" pitchFamily="18" charset="0"/>
              </a:rPr>
              <a:t>Processor</a:t>
            </a:r>
            <a:endParaRPr lang="en-GB"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BAEA6E79-FB2E-40B6-2576-FF2360D2B635}"/>
              </a:ext>
            </a:extLst>
          </p:cNvPr>
          <p:cNvSpPr>
            <a:spLocks noGrp="1"/>
          </p:cNvSpPr>
          <p:nvPr>
            <p:ph idx="1"/>
          </p:nvPr>
        </p:nvSpPr>
        <p:spPr>
          <a:xfrm>
            <a:off x="3825706" y="1944288"/>
            <a:ext cx="6965611" cy="4351338"/>
          </a:xfrm>
        </p:spPr>
        <p:txBody>
          <a:bodyPr>
            <a:normAutofit/>
          </a:bodyPr>
          <a:lstStyle/>
          <a:p>
            <a:pPr marL="0" indent="0">
              <a:buNone/>
            </a:pPr>
            <a:r>
              <a:rPr lang="en-GB" sz="2400" b="0" i="0" dirty="0">
                <a:solidFill>
                  <a:srgbClr val="171717"/>
                </a:solidFill>
                <a:effectLst/>
                <a:latin typeface="Times New Roman" panose="02020603050405020304" pitchFamily="18" charset="0"/>
                <a:cs typeface="Times New Roman" panose="02020603050405020304" pitchFamily="18" charset="0"/>
              </a:rPr>
              <a:t>The Intel Core i7-12800HX is a high-end mobile CPU for laptops based on the Alder Lake architecture. It was announced in mid 2022 and offers 8 performance cores (P-cores, Golden Cove architecture) and 8 efficient cores (E-cores, </a:t>
            </a:r>
            <a:r>
              <a:rPr lang="en-GB" sz="2400" b="0" i="0" dirty="0" err="1">
                <a:solidFill>
                  <a:srgbClr val="171717"/>
                </a:solidFill>
                <a:effectLst/>
                <a:latin typeface="Times New Roman" panose="02020603050405020304" pitchFamily="18" charset="0"/>
                <a:cs typeface="Times New Roman" panose="02020603050405020304" pitchFamily="18" charset="0"/>
              </a:rPr>
              <a:t>Gracemont</a:t>
            </a:r>
            <a:r>
              <a:rPr lang="en-GB" sz="2400" b="0" i="0" dirty="0">
                <a:solidFill>
                  <a:srgbClr val="171717"/>
                </a:solidFill>
                <a:effectLst/>
                <a:latin typeface="Times New Roman" panose="02020603050405020304" pitchFamily="18" charset="0"/>
                <a:cs typeface="Times New Roman" panose="02020603050405020304" pitchFamily="18" charset="0"/>
              </a:rPr>
              <a:t> architecture).</a:t>
            </a:r>
          </a:p>
          <a:p>
            <a:pPr marL="0" indent="0">
              <a:buNone/>
            </a:pPr>
            <a:r>
              <a:rPr lang="en-GB" sz="2400" b="0" i="0" dirty="0">
                <a:effectLst/>
                <a:latin typeface="Times New Roman" panose="02020603050405020304" pitchFamily="18" charset="0"/>
                <a:cs typeface="Times New Roman" panose="02020603050405020304" pitchFamily="18" charset="0"/>
              </a:rPr>
              <a:t>This is a newly released CPU that contains 16 Cores and 24 Threads. The Intel Core i7-12800HX also has reasonable threaded performance that will serve well in games and in graphic projects. Paired with a good </a:t>
            </a:r>
            <a:r>
              <a:rPr lang="en-GB" sz="2400" b="0" i="0" strike="noStrike" dirty="0">
                <a:latin typeface="Times New Roman" panose="02020603050405020304" pitchFamily="18" charset="0"/>
                <a:cs typeface="Times New Roman" panose="02020603050405020304" pitchFamily="18" charset="0"/>
              </a:rPr>
              <a:t>videocard </a:t>
            </a:r>
            <a:r>
              <a:rPr lang="en-GB" sz="2400" b="0" i="0" dirty="0">
                <a:effectLst/>
                <a:latin typeface="Times New Roman" panose="02020603050405020304" pitchFamily="18" charset="0"/>
                <a:cs typeface="Times New Roman" panose="02020603050405020304" pitchFamily="18" charset="0"/>
              </a:rPr>
              <a:t>this would be a suitable CPU for gaming and editing.</a:t>
            </a:r>
            <a:endParaRPr lang="en-GB" sz="2400"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2EF676AF-FC9B-92E2-AC9D-CE5D5CD081D1}"/>
              </a:ext>
            </a:extLst>
          </p:cNvPr>
          <p:cNvSpPr/>
          <p:nvPr/>
        </p:nvSpPr>
        <p:spPr>
          <a:xfrm>
            <a:off x="0" y="225951"/>
            <a:ext cx="732749" cy="1599674"/>
          </a:xfrm>
          <a:prstGeom prst="rect">
            <a:avLst/>
          </a:prstGeom>
          <a:solidFill>
            <a:srgbClr val="EAB92C"/>
          </a:solidFill>
          <a:ln>
            <a:solidFill>
              <a:srgbClr val="EAB9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8" name="Picture 7" descr="Graphical user interface, application&#10;&#10;Description automatically generated">
            <a:extLst>
              <a:ext uri="{FF2B5EF4-FFF2-40B4-BE49-F238E27FC236}">
                <a16:creationId xmlns:a16="http://schemas.microsoft.com/office/drawing/2014/main" id="{3DD91083-0121-AEE0-056C-A7C335E2C1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4783" y="2028049"/>
            <a:ext cx="2463560" cy="4548587"/>
          </a:xfrm>
          <a:prstGeom prst="rect">
            <a:avLst/>
          </a:prstGeom>
        </p:spPr>
      </p:pic>
    </p:spTree>
    <p:extLst>
      <p:ext uri="{BB962C8B-B14F-4D97-AF65-F5344CB8AC3E}">
        <p14:creationId xmlns:p14="http://schemas.microsoft.com/office/powerpoint/2010/main" val="2319926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Chart&#10;&#10;Description automatically generated">
            <a:extLst>
              <a:ext uri="{FF2B5EF4-FFF2-40B4-BE49-F238E27FC236}">
                <a16:creationId xmlns:a16="http://schemas.microsoft.com/office/drawing/2014/main" id="{85A57A94-0747-9B07-A428-4B54C97E25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1828" y="499473"/>
            <a:ext cx="10508343" cy="5859054"/>
          </a:xfrm>
          <a:prstGeom prst="rect">
            <a:avLst/>
          </a:prstGeom>
        </p:spPr>
      </p:pic>
    </p:spTree>
    <p:extLst>
      <p:ext uri="{BB962C8B-B14F-4D97-AF65-F5344CB8AC3E}">
        <p14:creationId xmlns:p14="http://schemas.microsoft.com/office/powerpoint/2010/main" val="11820653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1371CF-08FD-77BE-8A39-B37F2D8BDF7D}"/>
              </a:ext>
            </a:extLst>
          </p:cNvPr>
          <p:cNvSpPr>
            <a:spLocks noGrp="1"/>
          </p:cNvSpPr>
          <p:nvPr>
            <p:ph type="title"/>
          </p:nvPr>
        </p:nvSpPr>
        <p:spPr/>
        <p:txBody>
          <a:bodyPr/>
          <a:lstStyle/>
          <a:p>
            <a:r>
              <a:rPr lang="en-GB" i="0" dirty="0">
                <a:effectLst/>
                <a:latin typeface="Times New Roman" panose="02020603050405020304" pitchFamily="18" charset="0"/>
                <a:cs typeface="Times New Roman" panose="02020603050405020304" pitchFamily="18" charset="0"/>
              </a:rPr>
              <a:t>Graphics</a:t>
            </a:r>
            <a:endParaRPr lang="en-GB" dirty="0">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2EF676AF-FC9B-92E2-AC9D-CE5D5CD081D1}"/>
              </a:ext>
            </a:extLst>
          </p:cNvPr>
          <p:cNvSpPr/>
          <p:nvPr/>
        </p:nvSpPr>
        <p:spPr>
          <a:xfrm>
            <a:off x="0" y="225951"/>
            <a:ext cx="732749" cy="1599674"/>
          </a:xfrm>
          <a:prstGeom prst="rect">
            <a:avLst/>
          </a:prstGeom>
          <a:solidFill>
            <a:srgbClr val="EAB92C"/>
          </a:solidFill>
          <a:ln>
            <a:solidFill>
              <a:srgbClr val="EAB9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extBox 1">
            <a:extLst>
              <a:ext uri="{FF2B5EF4-FFF2-40B4-BE49-F238E27FC236}">
                <a16:creationId xmlns:a16="http://schemas.microsoft.com/office/drawing/2014/main" id="{618F70A6-78E1-2CC6-2465-749FB097875C}"/>
              </a:ext>
            </a:extLst>
          </p:cNvPr>
          <p:cNvSpPr txBox="1"/>
          <p:nvPr/>
        </p:nvSpPr>
        <p:spPr>
          <a:xfrm>
            <a:off x="732749" y="1886132"/>
            <a:ext cx="5891416" cy="4524315"/>
          </a:xfrm>
          <a:prstGeom prst="rect">
            <a:avLst/>
          </a:prstGeom>
          <a:noFill/>
        </p:spPr>
        <p:txBody>
          <a:bodyPr wrap="square" rtlCol="0">
            <a:spAutoFit/>
          </a:bodyPr>
          <a:lstStyle/>
          <a:p>
            <a:r>
              <a:rPr lang="en-GB" sz="2400" b="0" i="0" dirty="0">
                <a:effectLst/>
                <a:latin typeface="Times New Roman" panose="02020603050405020304" pitchFamily="18" charset="0"/>
                <a:cs typeface="Times New Roman" panose="02020603050405020304" pitchFamily="18" charset="0"/>
              </a:rPr>
              <a:t>The Nvidia GeForce RTX 3070 </a:t>
            </a:r>
            <a:r>
              <a:rPr lang="en-GB" sz="2400" b="0" i="0" dirty="0" err="1">
                <a:effectLst/>
                <a:latin typeface="Times New Roman" panose="02020603050405020304" pitchFamily="18" charset="0"/>
                <a:cs typeface="Times New Roman" panose="02020603050405020304" pitchFamily="18" charset="0"/>
              </a:rPr>
              <a:t>Ti</a:t>
            </a:r>
            <a:r>
              <a:rPr lang="en-GB" sz="2400" b="0" i="0" dirty="0">
                <a:effectLst/>
                <a:latin typeface="Times New Roman" panose="02020603050405020304" pitchFamily="18" charset="0"/>
                <a:cs typeface="Times New Roman" panose="02020603050405020304" pitchFamily="18" charset="0"/>
              </a:rPr>
              <a:t> Laptop GPU (mobile, GN20-E6, Max-P, Max-Q) is a mobile graphics card for notebooks and the refresh of the RTX 3070.</a:t>
            </a:r>
          </a:p>
          <a:p>
            <a:r>
              <a:rPr lang="en-GB" sz="2400" b="0" i="0" dirty="0">
                <a:effectLst/>
                <a:latin typeface="Times New Roman" panose="02020603050405020304" pitchFamily="18" charset="0"/>
                <a:cs typeface="Times New Roman" panose="02020603050405020304" pitchFamily="18" charset="0"/>
              </a:rPr>
              <a:t>The GeForce RTX 3070 is excellent choice for one-step down play from a RTX 3080 that's still capable at 4K, while the more recently released seat filler between those two, the GeForce RTX 3070 </a:t>
            </a:r>
            <a:r>
              <a:rPr lang="en-GB" sz="2400" b="0" i="0" dirty="0" err="1">
                <a:effectLst/>
                <a:latin typeface="Times New Roman" panose="02020603050405020304" pitchFamily="18" charset="0"/>
                <a:cs typeface="Times New Roman" panose="02020603050405020304" pitchFamily="18" charset="0"/>
              </a:rPr>
              <a:t>Ti</a:t>
            </a:r>
            <a:r>
              <a:rPr lang="en-GB" sz="2400" b="0" i="0" dirty="0">
                <a:effectLst/>
                <a:latin typeface="Times New Roman" panose="02020603050405020304" pitchFamily="18" charset="0"/>
                <a:cs typeface="Times New Roman" panose="02020603050405020304" pitchFamily="18" charset="0"/>
              </a:rPr>
              <a:t>, is a bit expensive but </a:t>
            </a:r>
            <a:r>
              <a:rPr lang="en-GB" sz="2400" i="0" dirty="0">
                <a:effectLst/>
                <a:latin typeface="Times New Roman" panose="02020603050405020304" pitchFamily="18" charset="0"/>
                <a:cs typeface="Times New Roman" panose="02020603050405020304" pitchFamily="18" charset="0"/>
              </a:rPr>
              <a:t>hits 60fps at 4K more reliably than its predecessor.</a:t>
            </a:r>
            <a:endParaRPr lang="en-GB" sz="2400" dirty="0">
              <a:latin typeface="Times New Roman" panose="02020603050405020304" pitchFamily="18" charset="0"/>
              <a:cs typeface="Times New Roman" panose="02020603050405020304" pitchFamily="18" charset="0"/>
            </a:endParaRPr>
          </a:p>
          <a:p>
            <a:endParaRPr lang="en-GB" sz="2400" b="0" i="0" dirty="0">
              <a:effectLst/>
              <a:latin typeface="Times New Roman" panose="02020603050405020304" pitchFamily="18" charset="0"/>
              <a:cs typeface="Times New Roman" panose="02020603050405020304" pitchFamily="18" charset="0"/>
            </a:endParaRPr>
          </a:p>
        </p:txBody>
      </p:sp>
      <p:pic>
        <p:nvPicPr>
          <p:cNvPr id="12" name="Picture 11" descr="A screenshot of a computer&#10;&#10;Description automatically generated with medium confidence">
            <a:extLst>
              <a:ext uri="{FF2B5EF4-FFF2-40B4-BE49-F238E27FC236}">
                <a16:creationId xmlns:a16="http://schemas.microsoft.com/office/drawing/2014/main" id="{E969F1C3-5269-BEFA-2916-ACDE3CBC53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6083" y="1075000"/>
            <a:ext cx="4477717" cy="4708000"/>
          </a:xfrm>
          <a:prstGeom prst="rect">
            <a:avLst/>
          </a:prstGeom>
        </p:spPr>
      </p:pic>
    </p:spTree>
    <p:extLst>
      <p:ext uri="{BB962C8B-B14F-4D97-AF65-F5344CB8AC3E}">
        <p14:creationId xmlns:p14="http://schemas.microsoft.com/office/powerpoint/2010/main" val="15384124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4">
            <a:extLst>
              <a:ext uri="{FF2B5EF4-FFF2-40B4-BE49-F238E27FC236}">
                <a16:creationId xmlns:a16="http://schemas.microsoft.com/office/drawing/2014/main" id="{6E7B16F2-3FA9-FA0D-162A-809053A0A2AA}"/>
              </a:ext>
            </a:extLst>
          </p:cNvPr>
          <p:cNvSpPr>
            <a:spLocks noGrp="1"/>
          </p:cNvSpPr>
          <p:nvPr>
            <p:ph idx="1"/>
          </p:nvPr>
        </p:nvSpPr>
        <p:spPr>
          <a:xfrm>
            <a:off x="838200" y="739897"/>
            <a:ext cx="10515600" cy="1569660"/>
          </a:xfrm>
        </p:spPr>
        <p:txBody>
          <a:bodyPr>
            <a:normAutofit/>
          </a:bodyPr>
          <a:lstStyle/>
          <a:p>
            <a:pPr marL="0" indent="0">
              <a:buNone/>
            </a:pPr>
            <a:r>
              <a:rPr lang="en-GB" sz="2400" b="0" i="0" dirty="0">
                <a:effectLst/>
                <a:latin typeface="Times New Roman" panose="02020603050405020304" pitchFamily="18" charset="0"/>
                <a:cs typeface="Times New Roman" panose="02020603050405020304" pitchFamily="18" charset="0"/>
              </a:rPr>
              <a:t>Compared to the old card, the newer one offers 15% more shaders but less clock speed. It will still feature the 256 Bit memory bus and 8 GB GDDR6. The RTX 3070ti is available in different power variants ranging from 80 Watt TGP with a Boost clock of 1035 MHz up to 125 Watt models with a Boost clock of 1485 </a:t>
            </a:r>
            <a:r>
              <a:rPr lang="en-GB" sz="2400" b="0" i="0" dirty="0" err="1">
                <a:effectLst/>
                <a:latin typeface="Times New Roman" panose="02020603050405020304" pitchFamily="18" charset="0"/>
                <a:cs typeface="Times New Roman" panose="02020603050405020304" pitchFamily="18" charset="0"/>
              </a:rPr>
              <a:t>MHz.</a:t>
            </a:r>
            <a:endParaRPr lang="en-GB"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060EA51D-CFAD-961A-B278-A8EF2CB6032E}"/>
              </a:ext>
            </a:extLst>
          </p:cNvPr>
          <p:cNvSpPr txBox="1"/>
          <p:nvPr/>
        </p:nvSpPr>
        <p:spPr>
          <a:xfrm>
            <a:off x="7371040" y="2540776"/>
            <a:ext cx="4029875" cy="1938992"/>
          </a:xfrm>
          <a:prstGeom prst="rect">
            <a:avLst/>
          </a:prstGeom>
          <a:noFill/>
        </p:spPr>
        <p:txBody>
          <a:bodyPr wrap="square" rtlCol="0">
            <a:spAutoFit/>
          </a:bodyPr>
          <a:lstStyle/>
          <a:p>
            <a:r>
              <a:rPr lang="en-GB" sz="2400" i="0" dirty="0">
                <a:effectLst/>
                <a:latin typeface="Times New Roman" panose="02020603050405020304" pitchFamily="18" charset="0"/>
                <a:cs typeface="Times New Roman" panose="02020603050405020304" pitchFamily="18" charset="0"/>
              </a:rPr>
              <a:t>The RTX 3070 </a:t>
            </a:r>
            <a:r>
              <a:rPr lang="en-GB" sz="2400" i="0" dirty="0" err="1">
                <a:effectLst/>
                <a:latin typeface="Times New Roman" panose="02020603050405020304" pitchFamily="18" charset="0"/>
                <a:cs typeface="Times New Roman" panose="02020603050405020304" pitchFamily="18" charset="0"/>
              </a:rPr>
              <a:t>Ti</a:t>
            </a:r>
            <a:r>
              <a:rPr lang="en-GB" sz="2400" i="0" dirty="0">
                <a:effectLst/>
                <a:latin typeface="Times New Roman" panose="02020603050405020304" pitchFamily="18" charset="0"/>
                <a:cs typeface="Times New Roman" panose="02020603050405020304" pitchFamily="18" charset="0"/>
              </a:rPr>
              <a:t> does best as a 1440p gaming solution, </a:t>
            </a:r>
            <a:r>
              <a:rPr lang="en-GB" sz="2400" b="0" i="0" dirty="0">
                <a:effectLst/>
                <a:latin typeface="Times New Roman" panose="02020603050405020304" pitchFamily="18" charset="0"/>
                <a:cs typeface="Times New Roman" panose="02020603050405020304" pitchFamily="18" charset="0"/>
              </a:rPr>
              <a:t>which remains the sweet spot in terms of image quality and performance requirements.</a:t>
            </a:r>
            <a:endParaRPr lang="en-GB" sz="2400" dirty="0">
              <a:latin typeface="Times New Roman" panose="02020603050405020304" pitchFamily="18" charset="0"/>
              <a:cs typeface="Times New Roman" panose="02020603050405020304" pitchFamily="18" charset="0"/>
            </a:endParaRPr>
          </a:p>
        </p:txBody>
      </p:sp>
      <p:pic>
        <p:nvPicPr>
          <p:cNvPr id="7" name="Picture 6" descr="Chart&#10;&#10;Description automatically generated with medium confidence">
            <a:extLst>
              <a:ext uri="{FF2B5EF4-FFF2-40B4-BE49-F238E27FC236}">
                <a16:creationId xmlns:a16="http://schemas.microsoft.com/office/drawing/2014/main" id="{9519BDE9-4689-324A-1317-FAABF9AC78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7858" y="2309557"/>
            <a:ext cx="6587885" cy="3909212"/>
          </a:xfrm>
          <a:prstGeom prst="rect">
            <a:avLst/>
          </a:prstGeom>
        </p:spPr>
      </p:pic>
      <p:pic>
        <p:nvPicPr>
          <p:cNvPr id="9" name="Picture 8" descr="A screenshot of a computer&#10;&#10;Description automatically generated">
            <a:extLst>
              <a:ext uri="{FF2B5EF4-FFF2-40B4-BE49-F238E27FC236}">
                <a16:creationId xmlns:a16="http://schemas.microsoft.com/office/drawing/2014/main" id="{829BEDA6-8BF2-6F70-7E54-B7C4C717EA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8953" y="5193234"/>
            <a:ext cx="4248616" cy="954535"/>
          </a:xfrm>
          <a:prstGeom prst="rect">
            <a:avLst/>
          </a:prstGeom>
        </p:spPr>
      </p:pic>
    </p:spTree>
    <p:extLst>
      <p:ext uri="{BB962C8B-B14F-4D97-AF65-F5344CB8AC3E}">
        <p14:creationId xmlns:p14="http://schemas.microsoft.com/office/powerpoint/2010/main" val="3869170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1371CF-08FD-77BE-8A39-B37F2D8BDF7D}"/>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Memory</a:t>
            </a:r>
          </a:p>
        </p:txBody>
      </p:sp>
      <p:sp>
        <p:nvSpPr>
          <p:cNvPr id="6" name="Rectangle 5">
            <a:extLst>
              <a:ext uri="{FF2B5EF4-FFF2-40B4-BE49-F238E27FC236}">
                <a16:creationId xmlns:a16="http://schemas.microsoft.com/office/drawing/2014/main" id="{2EF676AF-FC9B-92E2-AC9D-CE5D5CD081D1}"/>
              </a:ext>
            </a:extLst>
          </p:cNvPr>
          <p:cNvSpPr/>
          <p:nvPr/>
        </p:nvSpPr>
        <p:spPr>
          <a:xfrm>
            <a:off x="0" y="225951"/>
            <a:ext cx="732749" cy="1599674"/>
          </a:xfrm>
          <a:prstGeom prst="rect">
            <a:avLst/>
          </a:prstGeom>
          <a:solidFill>
            <a:srgbClr val="EAB92C"/>
          </a:solidFill>
          <a:ln>
            <a:solidFill>
              <a:srgbClr val="EAB9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8" name="Picture 7" descr="Graphical user interface&#10;&#10;Description automatically generated">
            <a:extLst>
              <a:ext uri="{FF2B5EF4-FFF2-40B4-BE49-F238E27FC236}">
                <a16:creationId xmlns:a16="http://schemas.microsoft.com/office/drawing/2014/main" id="{84D5EB56-CA04-8F31-C1E8-AA2D09EFB1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579005"/>
            <a:ext cx="8337965" cy="4802187"/>
          </a:xfrm>
          <a:prstGeom prst="rect">
            <a:avLst/>
          </a:prstGeom>
        </p:spPr>
      </p:pic>
      <p:sp>
        <p:nvSpPr>
          <p:cNvPr id="9" name="TextBox 8">
            <a:extLst>
              <a:ext uri="{FF2B5EF4-FFF2-40B4-BE49-F238E27FC236}">
                <a16:creationId xmlns:a16="http://schemas.microsoft.com/office/drawing/2014/main" id="{EC4443DC-2A21-36AF-4626-72476A499D41}"/>
              </a:ext>
            </a:extLst>
          </p:cNvPr>
          <p:cNvSpPr txBox="1"/>
          <p:nvPr/>
        </p:nvSpPr>
        <p:spPr>
          <a:xfrm>
            <a:off x="9444147" y="1690687"/>
            <a:ext cx="2015104" cy="4801314"/>
          </a:xfrm>
          <a:prstGeom prst="rect">
            <a:avLst/>
          </a:prstGeom>
          <a:noFill/>
        </p:spPr>
        <p:txBody>
          <a:bodyPr wrap="square" rtlCol="0">
            <a:spAutoFit/>
          </a:bodyPr>
          <a:lstStyle/>
          <a:p>
            <a:r>
              <a:rPr lang="en-GB" sz="1800" b="0" i="0" dirty="0">
                <a:solidFill>
                  <a:srgbClr val="23282D"/>
                </a:solidFill>
                <a:effectLst/>
                <a:latin typeface="Times New Roman" panose="02020603050405020304" pitchFamily="18" charset="0"/>
                <a:cs typeface="Times New Roman" panose="02020603050405020304" pitchFamily="18" charset="0"/>
              </a:rPr>
              <a:t>As you’d expect, these can be purchased as one UDIMM or in dual-channel/module kits.</a:t>
            </a:r>
          </a:p>
          <a:p>
            <a:r>
              <a:rPr lang="en-GB" b="0" i="0" dirty="0">
                <a:solidFill>
                  <a:srgbClr val="23282D"/>
                </a:solidFill>
                <a:effectLst/>
                <a:latin typeface="Times New Roman" panose="02020603050405020304" pitchFamily="18" charset="0"/>
                <a:cs typeface="Times New Roman" panose="02020603050405020304" pitchFamily="18" charset="0"/>
              </a:rPr>
              <a:t>Like other Crucial memory modules, the DDR5 4800 RAM is sold bare. However, it’s an excellent option for system builders who are planning to upgrade their OEM machines.</a:t>
            </a:r>
            <a:endParaRPr lang="en-GB" sz="1800" dirty="0">
              <a:latin typeface="Times New Roman" panose="02020603050405020304" pitchFamily="18" charset="0"/>
              <a:cs typeface="Times New Roman" panose="02020603050405020304" pitchFamily="18" charset="0"/>
            </a:endParaRPr>
          </a:p>
          <a:p>
            <a:endParaRPr lang="en-GB" dirty="0"/>
          </a:p>
        </p:txBody>
      </p:sp>
    </p:spTree>
    <p:extLst>
      <p:ext uri="{BB962C8B-B14F-4D97-AF65-F5344CB8AC3E}">
        <p14:creationId xmlns:p14="http://schemas.microsoft.com/office/powerpoint/2010/main" val="39966378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6BCC6-E3F5-01B2-D7E3-99F2BDC13C40}"/>
              </a:ext>
            </a:extLst>
          </p:cNvPr>
          <p:cNvSpPr>
            <a:spLocks noGrp="1"/>
          </p:cNvSpPr>
          <p:nvPr>
            <p:ph type="title"/>
          </p:nvPr>
        </p:nvSpPr>
        <p:spPr>
          <a:xfrm>
            <a:off x="838200" y="914400"/>
            <a:ext cx="10515600" cy="776288"/>
          </a:xfrm>
        </p:spPr>
        <p:txBody>
          <a:bodyPr>
            <a:normAutofit fontScale="90000"/>
          </a:bodyPr>
          <a:lstStyle/>
          <a:p>
            <a:r>
              <a:rPr lang="en-GB" i="0" dirty="0">
                <a:solidFill>
                  <a:srgbClr val="23282D"/>
                </a:solidFill>
                <a:effectLst/>
                <a:latin typeface="Times New Roman" panose="02020603050405020304" pitchFamily="18" charset="0"/>
                <a:cs typeface="Times New Roman" panose="02020603050405020304" pitchFamily="18" charset="0"/>
              </a:rPr>
              <a:t>The New DDR5 Standard and Its Benefits </a:t>
            </a:r>
            <a:br>
              <a:rPr lang="en-GB" b="1" i="0" dirty="0">
                <a:solidFill>
                  <a:srgbClr val="23282D"/>
                </a:solidFill>
                <a:effectLst/>
                <a:latin typeface="Poppins" panose="020B0502040204020203" pitchFamily="2" charset="0"/>
              </a:rPr>
            </a:br>
            <a:endParaRPr lang="en-GB" dirty="0"/>
          </a:p>
        </p:txBody>
      </p:sp>
      <p:sp>
        <p:nvSpPr>
          <p:cNvPr id="3" name="Content Placeholder 2">
            <a:extLst>
              <a:ext uri="{FF2B5EF4-FFF2-40B4-BE49-F238E27FC236}">
                <a16:creationId xmlns:a16="http://schemas.microsoft.com/office/drawing/2014/main" id="{03CA8A0D-2F87-1DB7-124C-AFD7E51B3058}"/>
              </a:ext>
            </a:extLst>
          </p:cNvPr>
          <p:cNvSpPr>
            <a:spLocks noGrp="1"/>
          </p:cNvSpPr>
          <p:nvPr>
            <p:ph idx="1"/>
          </p:nvPr>
        </p:nvSpPr>
        <p:spPr/>
        <p:txBody>
          <a:bodyPr>
            <a:normAutofit/>
          </a:bodyPr>
          <a:lstStyle/>
          <a:p>
            <a:pPr marL="0" indent="0">
              <a:buNone/>
            </a:pPr>
            <a:r>
              <a:rPr lang="en-GB" sz="2400" b="0" i="0" dirty="0">
                <a:solidFill>
                  <a:srgbClr val="23282D"/>
                </a:solidFill>
                <a:effectLst/>
                <a:latin typeface="Times New Roman" panose="02020603050405020304" pitchFamily="18" charset="0"/>
                <a:cs typeface="Times New Roman" panose="02020603050405020304" pitchFamily="18" charset="0"/>
              </a:rPr>
              <a:t>Alder Lake brings a new DDR memory standard. This is made to handle all the memory demands of modern systems and processor architectures. It guarantees increased memory speed though at the expense of higher latencies.</a:t>
            </a:r>
          </a:p>
          <a:p>
            <a:pPr marL="0" indent="0">
              <a:buNone/>
            </a:pPr>
            <a:r>
              <a:rPr lang="en-GB" sz="2400" b="0" i="0" dirty="0">
                <a:solidFill>
                  <a:srgbClr val="23282D"/>
                </a:solidFill>
                <a:effectLst/>
                <a:latin typeface="Times New Roman" panose="02020603050405020304" pitchFamily="18" charset="0"/>
                <a:cs typeface="Times New Roman" panose="02020603050405020304" pitchFamily="18" charset="0"/>
              </a:rPr>
              <a:t>DDR comes with tons of notable benefits including increased load times and file transfers. Other than these, there’s also optimised innovation for stable and balanced performance, more responsive multitasking, and enhanced power efficiency.</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0463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1371CF-08FD-77BE-8A39-B37F2D8BDF7D}"/>
              </a:ext>
            </a:extLst>
          </p:cNvPr>
          <p:cNvSpPr>
            <a:spLocks noGrp="1"/>
          </p:cNvSpPr>
          <p:nvPr>
            <p:ph type="title"/>
          </p:nvPr>
        </p:nvSpPr>
        <p:spPr/>
        <p:txBody>
          <a:bodyPr/>
          <a:lstStyle/>
          <a:p>
            <a:r>
              <a:rPr lang="en-GB" dirty="0">
                <a:latin typeface="Times New Roman" panose="02020603050405020304" pitchFamily="18" charset="0"/>
                <a:cs typeface="Times New Roman" panose="02020603050405020304" pitchFamily="18" charset="0"/>
              </a:rPr>
              <a:t>Storage</a:t>
            </a:r>
          </a:p>
        </p:txBody>
      </p:sp>
      <p:sp>
        <p:nvSpPr>
          <p:cNvPr id="6" name="Rectangle 5">
            <a:extLst>
              <a:ext uri="{FF2B5EF4-FFF2-40B4-BE49-F238E27FC236}">
                <a16:creationId xmlns:a16="http://schemas.microsoft.com/office/drawing/2014/main" id="{2EF676AF-FC9B-92E2-AC9D-CE5D5CD081D1}"/>
              </a:ext>
            </a:extLst>
          </p:cNvPr>
          <p:cNvSpPr/>
          <p:nvPr/>
        </p:nvSpPr>
        <p:spPr>
          <a:xfrm>
            <a:off x="0" y="225951"/>
            <a:ext cx="732749" cy="1599674"/>
          </a:xfrm>
          <a:prstGeom prst="rect">
            <a:avLst/>
          </a:prstGeom>
          <a:solidFill>
            <a:srgbClr val="EAB92C"/>
          </a:solidFill>
          <a:ln>
            <a:solidFill>
              <a:srgbClr val="EAB9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extBox 1">
            <a:extLst>
              <a:ext uri="{FF2B5EF4-FFF2-40B4-BE49-F238E27FC236}">
                <a16:creationId xmlns:a16="http://schemas.microsoft.com/office/drawing/2014/main" id="{319DF0A5-B608-C400-8237-CDFE08036163}"/>
              </a:ext>
            </a:extLst>
          </p:cNvPr>
          <p:cNvSpPr txBox="1"/>
          <p:nvPr/>
        </p:nvSpPr>
        <p:spPr>
          <a:xfrm>
            <a:off x="6151841" y="1825625"/>
            <a:ext cx="5367737" cy="4431983"/>
          </a:xfrm>
          <a:prstGeom prst="rect">
            <a:avLst/>
          </a:prstGeom>
          <a:noFill/>
        </p:spPr>
        <p:txBody>
          <a:bodyPr wrap="square" rtlCol="0">
            <a:spAutoFit/>
          </a:bodyPr>
          <a:lstStyle/>
          <a:p>
            <a:r>
              <a:rPr lang="en-GB" sz="2400" i="0" dirty="0">
                <a:solidFill>
                  <a:srgbClr val="292929"/>
                </a:solidFill>
                <a:effectLst/>
                <a:latin typeface="Times New Roman" panose="02020603050405020304" pitchFamily="18" charset="0"/>
                <a:cs typeface="Times New Roman" panose="02020603050405020304" pitchFamily="18" charset="0"/>
              </a:rPr>
              <a:t>M.2 SSD </a:t>
            </a:r>
            <a:r>
              <a:rPr lang="en-GB" sz="2400" b="0" i="0" dirty="0">
                <a:solidFill>
                  <a:srgbClr val="292929"/>
                </a:solidFill>
                <a:effectLst/>
                <a:latin typeface="Times New Roman" panose="02020603050405020304" pitchFamily="18" charset="0"/>
                <a:cs typeface="Times New Roman" panose="02020603050405020304" pitchFamily="18" charset="0"/>
              </a:rPr>
              <a:t>look like sticks of gum studded with NAND modules and a controller chip.</a:t>
            </a:r>
          </a:p>
          <a:p>
            <a:r>
              <a:rPr lang="en-GB" sz="2400" b="0" i="0" dirty="0">
                <a:solidFill>
                  <a:srgbClr val="292929"/>
                </a:solidFill>
                <a:effectLst/>
                <a:latin typeface="Times New Roman" panose="02020603050405020304" pitchFamily="18" charset="0"/>
                <a:cs typeface="Times New Roman" panose="02020603050405020304" pitchFamily="18" charset="0"/>
              </a:rPr>
              <a:t>M.2 drive length isn't always an indicator of drive capacity(it can vary from 80mm to 42 mm), but there are limits to NAND-chip density and how many memory modules engineers can stuf</a:t>
            </a:r>
            <a:r>
              <a:rPr lang="en-GB" sz="2400" dirty="0">
                <a:solidFill>
                  <a:srgbClr val="292929"/>
                </a:solidFill>
                <a:latin typeface="Times New Roman" panose="02020603050405020304" pitchFamily="18" charset="0"/>
                <a:cs typeface="Times New Roman" panose="02020603050405020304" pitchFamily="18" charset="0"/>
              </a:rPr>
              <a:t>f into.</a:t>
            </a:r>
          </a:p>
          <a:p>
            <a:r>
              <a:rPr lang="en-GB" sz="2400" dirty="0">
                <a:solidFill>
                  <a:srgbClr val="292929"/>
                </a:solidFill>
                <a:latin typeface="Times New Roman" panose="02020603050405020304" pitchFamily="18" charset="0"/>
                <a:cs typeface="Times New Roman" panose="02020603050405020304" pitchFamily="18" charset="0"/>
              </a:rPr>
              <a:t>M</a:t>
            </a:r>
            <a:r>
              <a:rPr lang="en-GB" sz="2400" b="0" i="0" dirty="0">
                <a:solidFill>
                  <a:srgbClr val="292929"/>
                </a:solidFill>
                <a:effectLst/>
                <a:latin typeface="Times New Roman" panose="02020603050405020304" pitchFamily="18" charset="0"/>
                <a:cs typeface="Times New Roman" panose="02020603050405020304" pitchFamily="18" charset="0"/>
              </a:rPr>
              <a:t>ost of the M.2 drives have topped out at 2TB, though you can find a few 4TB and 8TB models at lofty prices.</a:t>
            </a:r>
            <a:endParaRPr lang="en-GB" sz="2400" i="0" dirty="0">
              <a:effectLst/>
              <a:latin typeface="Times New Roman" panose="02020603050405020304" pitchFamily="18" charset="0"/>
              <a:cs typeface="Times New Roman" panose="02020603050405020304" pitchFamily="18" charset="0"/>
            </a:endParaRPr>
          </a:p>
          <a:p>
            <a:endParaRPr lang="en-GB" dirty="0"/>
          </a:p>
        </p:txBody>
      </p:sp>
      <p:pic>
        <p:nvPicPr>
          <p:cNvPr id="7" name="Picture 6" descr="A picture containing text&#10;&#10;Description automatically generated">
            <a:extLst>
              <a:ext uri="{FF2B5EF4-FFF2-40B4-BE49-F238E27FC236}">
                <a16:creationId xmlns:a16="http://schemas.microsoft.com/office/drawing/2014/main" id="{ECB5F1A5-5D4C-E42B-DA98-467A8D95A6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8657" y="1868456"/>
            <a:ext cx="4858186" cy="1470411"/>
          </a:xfrm>
          <a:prstGeom prst="rect">
            <a:avLst/>
          </a:prstGeom>
        </p:spPr>
      </p:pic>
      <p:pic>
        <p:nvPicPr>
          <p:cNvPr id="9" name="Picture 8" descr="A city skyline at night&#10;&#10;Description automatically generated with low confidence">
            <a:extLst>
              <a:ext uri="{FF2B5EF4-FFF2-40B4-BE49-F238E27FC236}">
                <a16:creationId xmlns:a16="http://schemas.microsoft.com/office/drawing/2014/main" id="{2C4E79A6-AA01-699B-1915-CA36F3C832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748" y="3516635"/>
            <a:ext cx="4854095" cy="1330022"/>
          </a:xfrm>
          <a:prstGeom prst="rect">
            <a:avLst/>
          </a:prstGeom>
        </p:spPr>
      </p:pic>
      <p:pic>
        <p:nvPicPr>
          <p:cNvPr id="11" name="Picture 10" descr="A picture containing text, electronics&#10;&#10;Description automatically generated">
            <a:extLst>
              <a:ext uri="{FF2B5EF4-FFF2-40B4-BE49-F238E27FC236}">
                <a16:creationId xmlns:a16="http://schemas.microsoft.com/office/drawing/2014/main" id="{5A218715-0E29-A62F-5CD5-5C3CB614F7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2748" y="5024425"/>
            <a:ext cx="4854095" cy="1355124"/>
          </a:xfrm>
          <a:prstGeom prst="rect">
            <a:avLst/>
          </a:prstGeom>
        </p:spPr>
      </p:pic>
    </p:spTree>
    <p:extLst>
      <p:ext uri="{BB962C8B-B14F-4D97-AF65-F5344CB8AC3E}">
        <p14:creationId xmlns:p14="http://schemas.microsoft.com/office/powerpoint/2010/main" val="142795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ext&#10;&#10;Description automatically generated">
            <a:extLst>
              <a:ext uri="{FF2B5EF4-FFF2-40B4-BE49-F238E27FC236}">
                <a16:creationId xmlns:a16="http://schemas.microsoft.com/office/drawing/2014/main" id="{7179F3F9-0372-135F-8110-3CBC08B769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921" y="1877660"/>
            <a:ext cx="3491402" cy="3744852"/>
          </a:xfrm>
          <a:prstGeom prst="rect">
            <a:avLst/>
          </a:prstGeom>
        </p:spPr>
      </p:pic>
      <p:pic>
        <p:nvPicPr>
          <p:cNvPr id="7" name="Picture 6" descr="Graphical user interface, text, application, email&#10;&#10;Description automatically generated">
            <a:extLst>
              <a:ext uri="{FF2B5EF4-FFF2-40B4-BE49-F238E27FC236}">
                <a16:creationId xmlns:a16="http://schemas.microsoft.com/office/drawing/2014/main" id="{A8D44243-23B6-8EDF-FE85-23FF1BD670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03095" y="1735661"/>
            <a:ext cx="3650429" cy="3963632"/>
          </a:xfrm>
          <a:prstGeom prst="rect">
            <a:avLst/>
          </a:prstGeom>
        </p:spPr>
      </p:pic>
      <p:pic>
        <p:nvPicPr>
          <p:cNvPr id="9" name="Picture 8" descr="Graphical user interface, text, application, email&#10;&#10;Description automatically generated">
            <a:extLst>
              <a:ext uri="{FF2B5EF4-FFF2-40B4-BE49-F238E27FC236}">
                <a16:creationId xmlns:a16="http://schemas.microsoft.com/office/drawing/2014/main" id="{51B272EC-BD52-B27C-12AB-41AA1358C2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53524" y="1777712"/>
            <a:ext cx="3847555" cy="3302575"/>
          </a:xfrm>
          <a:prstGeom prst="rect">
            <a:avLst/>
          </a:prstGeom>
        </p:spPr>
      </p:pic>
      <p:sp>
        <p:nvSpPr>
          <p:cNvPr id="10" name="TextBox 9">
            <a:extLst>
              <a:ext uri="{FF2B5EF4-FFF2-40B4-BE49-F238E27FC236}">
                <a16:creationId xmlns:a16="http://schemas.microsoft.com/office/drawing/2014/main" id="{EBBA0615-B302-AAE8-C94A-FBCE6691578C}"/>
              </a:ext>
            </a:extLst>
          </p:cNvPr>
          <p:cNvSpPr txBox="1"/>
          <p:nvPr/>
        </p:nvSpPr>
        <p:spPr>
          <a:xfrm>
            <a:off x="551432" y="593313"/>
            <a:ext cx="10372507" cy="646331"/>
          </a:xfrm>
          <a:prstGeom prst="rect">
            <a:avLst/>
          </a:prstGeom>
          <a:noFill/>
        </p:spPr>
        <p:txBody>
          <a:bodyPr wrap="square" rtlCol="0">
            <a:spAutoFit/>
          </a:bodyPr>
          <a:lstStyle/>
          <a:p>
            <a:r>
              <a:rPr lang="en-GB">
                <a:latin typeface="Times New Roman" panose="02020603050405020304" pitchFamily="18" charset="0"/>
                <a:cs typeface="Times New Roman" panose="02020603050405020304" pitchFamily="18" charset="0"/>
              </a:rPr>
              <a:t>Mine top 3 of M.2 SSD. All of them provide solid benchmark performance with top-tier scores. Also offering excellent performance for creative tasks, if not necessarily for gaming.</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60682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2845</TotalTime>
  <Words>812</Words>
  <Application>Microsoft Office PowerPoint</Application>
  <PresentationFormat>Widescreen</PresentationFormat>
  <Paragraphs>29</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Poppins</vt:lpstr>
      <vt:lpstr>Times New Roman</vt:lpstr>
      <vt:lpstr>Office Theme</vt:lpstr>
      <vt:lpstr>High-end laptop</vt:lpstr>
      <vt:lpstr>What does high-end laptop mean?</vt:lpstr>
      <vt:lpstr>Barebones Laptop</vt:lpstr>
      <vt:lpstr>PowerPoint Presentation</vt:lpstr>
      <vt:lpstr>Processor</vt:lpstr>
      <vt:lpstr>PowerPoint Presentation</vt:lpstr>
      <vt:lpstr>Graphics</vt:lpstr>
      <vt:lpstr>PowerPoint Presentation</vt:lpstr>
      <vt:lpstr>Memory</vt:lpstr>
      <vt:lpstr>The New DDR5 Standard and Its Benefits  </vt:lpstr>
      <vt:lpstr>Storage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High-end laptop</dc:title>
  <dc:creator>Hanna Asiadouskaya</dc:creator>
  <cp:lastModifiedBy>Hanna Asiadouskaya</cp:lastModifiedBy>
  <cp:revision>21</cp:revision>
  <dcterms:created xsi:type="dcterms:W3CDTF">2022-12-02T13:26:21Z</dcterms:created>
  <dcterms:modified xsi:type="dcterms:W3CDTF">2022-12-04T12:52:08Z</dcterms:modified>
</cp:coreProperties>
</file>