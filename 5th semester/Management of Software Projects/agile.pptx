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7" r:id="rId10"/>
    <p:sldId id="265" r:id="rId11"/>
    <p:sldId id="264"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917" autoAdjust="0"/>
  </p:normalViewPr>
  <p:slideViewPr>
    <p:cSldViewPr snapToGrid="0" showGuides="1">
      <p:cViewPr varScale="1">
        <p:scale>
          <a:sx n="71" d="100"/>
          <a:sy n="71" d="100"/>
        </p:scale>
        <p:origin x="668" y="4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F6C873-5D51-4448-8C59-B49631CA9EB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7B30364-8489-472E-8D6B-D633D16556C2}">
      <dgm:prSet/>
      <dgm:spPr/>
      <dgm:t>
        <a:bodyPr/>
        <a:lstStyle/>
        <a:p>
          <a:r>
            <a:rPr lang="en-GB" dirty="0"/>
            <a:t>Adapts to Changing Requirements</a:t>
          </a:r>
          <a:endParaRPr lang="en-US" dirty="0"/>
        </a:p>
      </dgm:t>
    </dgm:pt>
    <dgm:pt modelId="{95A347A4-B4D6-46A9-AD13-43333214EA72}" type="parTrans" cxnId="{1C5F232C-C464-480F-B35F-AC0E80E64415}">
      <dgm:prSet/>
      <dgm:spPr/>
      <dgm:t>
        <a:bodyPr/>
        <a:lstStyle/>
        <a:p>
          <a:endParaRPr lang="en-US"/>
        </a:p>
      </dgm:t>
    </dgm:pt>
    <dgm:pt modelId="{25F82CC6-FD4D-497E-ACEA-ACB5E2ED49A7}" type="sibTrans" cxnId="{1C5F232C-C464-480F-B35F-AC0E80E64415}">
      <dgm:prSet/>
      <dgm:spPr/>
      <dgm:t>
        <a:bodyPr/>
        <a:lstStyle/>
        <a:p>
          <a:endParaRPr lang="en-US"/>
        </a:p>
      </dgm:t>
    </dgm:pt>
    <dgm:pt modelId="{58615E0A-F871-4D4F-806F-FDDD1D68A0F7}">
      <dgm:prSet/>
      <dgm:spPr/>
      <dgm:t>
        <a:bodyPr/>
        <a:lstStyle/>
        <a:p>
          <a:r>
            <a:rPr lang="en-GB"/>
            <a:t>Time-Efficient</a:t>
          </a:r>
          <a:endParaRPr lang="en-US"/>
        </a:p>
      </dgm:t>
    </dgm:pt>
    <dgm:pt modelId="{19B1F1E3-81D7-40AA-A737-320A57971959}" type="parTrans" cxnId="{A976E253-96CB-4404-86A5-CA90B3E7AA21}">
      <dgm:prSet/>
      <dgm:spPr/>
      <dgm:t>
        <a:bodyPr/>
        <a:lstStyle/>
        <a:p>
          <a:endParaRPr lang="en-US"/>
        </a:p>
      </dgm:t>
    </dgm:pt>
    <dgm:pt modelId="{C34D7988-EDE1-4383-9DED-4ED404997C20}" type="sibTrans" cxnId="{A976E253-96CB-4404-86A5-CA90B3E7AA21}">
      <dgm:prSet/>
      <dgm:spPr/>
      <dgm:t>
        <a:bodyPr/>
        <a:lstStyle/>
        <a:p>
          <a:endParaRPr lang="en-US"/>
        </a:p>
      </dgm:t>
    </dgm:pt>
    <dgm:pt modelId="{1E3C6E69-278D-4F43-98C1-AB246A5141C1}">
      <dgm:prSet/>
      <dgm:spPr/>
      <dgm:t>
        <a:bodyPr/>
        <a:lstStyle/>
        <a:p>
          <a:r>
            <a:rPr lang="en-GB"/>
            <a:t>Frequent Changes</a:t>
          </a:r>
          <a:endParaRPr lang="en-US"/>
        </a:p>
      </dgm:t>
    </dgm:pt>
    <dgm:pt modelId="{E8A328BC-27AE-467F-BD8A-5E07E340CA2C}" type="parTrans" cxnId="{7A9C914A-89A4-4B36-A902-BAB497D5D4D5}">
      <dgm:prSet/>
      <dgm:spPr/>
      <dgm:t>
        <a:bodyPr/>
        <a:lstStyle/>
        <a:p>
          <a:endParaRPr lang="en-US"/>
        </a:p>
      </dgm:t>
    </dgm:pt>
    <dgm:pt modelId="{F5377B77-8FB9-4A64-972C-7DC0B50CD05F}" type="sibTrans" cxnId="{7A9C914A-89A4-4B36-A902-BAB497D5D4D5}">
      <dgm:prSet/>
      <dgm:spPr/>
      <dgm:t>
        <a:bodyPr/>
        <a:lstStyle/>
        <a:p>
          <a:endParaRPr lang="en-US"/>
        </a:p>
      </dgm:t>
    </dgm:pt>
    <dgm:pt modelId="{7DD6CC4B-9A2C-425F-BF2F-5E2A813FD346}">
      <dgm:prSet/>
      <dgm:spPr/>
      <dgm:t>
        <a:bodyPr/>
        <a:lstStyle/>
        <a:p>
          <a:r>
            <a:rPr lang="en-GB"/>
            <a:t>Prioritize customer satisfaction</a:t>
          </a:r>
          <a:endParaRPr lang="en-US"/>
        </a:p>
      </dgm:t>
    </dgm:pt>
    <dgm:pt modelId="{4CB9AFD7-9BE2-4395-9A67-A46B47D0AAA7}" type="parTrans" cxnId="{273AE3B4-0D7A-4E2F-A504-BDE4B51F9285}">
      <dgm:prSet/>
      <dgm:spPr/>
      <dgm:t>
        <a:bodyPr/>
        <a:lstStyle/>
        <a:p>
          <a:endParaRPr lang="en-US"/>
        </a:p>
      </dgm:t>
    </dgm:pt>
    <dgm:pt modelId="{C62D6024-7908-4715-88EB-DA9A7B2BB753}" type="sibTrans" cxnId="{273AE3B4-0D7A-4E2F-A504-BDE4B51F9285}">
      <dgm:prSet/>
      <dgm:spPr/>
      <dgm:t>
        <a:bodyPr/>
        <a:lstStyle/>
        <a:p>
          <a:endParaRPr lang="en-US"/>
        </a:p>
      </dgm:t>
    </dgm:pt>
    <dgm:pt modelId="{4E259307-D699-4BEB-B933-E97A6C3F849B}">
      <dgm:prSet/>
      <dgm:spPr/>
      <dgm:t>
        <a:bodyPr/>
        <a:lstStyle/>
        <a:p>
          <a:r>
            <a:rPr lang="en-GB"/>
            <a:t>Fosters collaborative teamwork</a:t>
          </a:r>
          <a:endParaRPr lang="en-US"/>
        </a:p>
      </dgm:t>
    </dgm:pt>
    <dgm:pt modelId="{91DC692A-9331-4796-8C8E-4C4879B8CB78}" type="parTrans" cxnId="{9B6A1FF1-0BEF-4CBD-8FA8-C734D21F61EE}">
      <dgm:prSet/>
      <dgm:spPr/>
      <dgm:t>
        <a:bodyPr/>
        <a:lstStyle/>
        <a:p>
          <a:endParaRPr lang="en-US"/>
        </a:p>
      </dgm:t>
    </dgm:pt>
    <dgm:pt modelId="{9E0BB14B-0E50-4DB9-9E7C-3611EA1C09F2}" type="sibTrans" cxnId="{9B6A1FF1-0BEF-4CBD-8FA8-C734D21F61EE}">
      <dgm:prSet/>
      <dgm:spPr/>
      <dgm:t>
        <a:bodyPr/>
        <a:lstStyle/>
        <a:p>
          <a:endParaRPr lang="en-US"/>
        </a:p>
      </dgm:t>
    </dgm:pt>
    <dgm:pt modelId="{724ECE6D-C4BA-4CD8-A9FC-02654AE81A7B}" type="pres">
      <dgm:prSet presAssocID="{E5F6C873-5D51-4448-8C59-B49631CA9EB9}" presName="root" presStyleCnt="0">
        <dgm:presLayoutVars>
          <dgm:dir/>
          <dgm:resizeHandles val="exact"/>
        </dgm:presLayoutVars>
      </dgm:prSet>
      <dgm:spPr/>
    </dgm:pt>
    <dgm:pt modelId="{36A1A9A3-FD3B-465F-A1E0-4667E8AB6635}" type="pres">
      <dgm:prSet presAssocID="{97B30364-8489-472E-8D6B-D633D16556C2}" presName="compNode" presStyleCnt="0"/>
      <dgm:spPr/>
    </dgm:pt>
    <dgm:pt modelId="{9E77BF28-0F0E-4A33-B1B1-576566F664C8}" type="pres">
      <dgm:prSet presAssocID="{97B30364-8489-472E-8D6B-D633D16556C2}" presName="bgRect" presStyleLbl="bgShp" presStyleIdx="0" presStyleCnt="5"/>
      <dgm:spPr/>
    </dgm:pt>
    <dgm:pt modelId="{7B12FC3C-EC84-4FD5-9F17-23350E11B879}" type="pres">
      <dgm:prSet presAssocID="{97B30364-8489-472E-8D6B-D633D16556C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6EA021CB-C579-4052-AFDE-F5323E10AAB2}" type="pres">
      <dgm:prSet presAssocID="{97B30364-8489-472E-8D6B-D633D16556C2}" presName="spaceRect" presStyleCnt="0"/>
      <dgm:spPr/>
    </dgm:pt>
    <dgm:pt modelId="{C7DAFC1C-48FE-413A-8898-EB2D55211A7F}" type="pres">
      <dgm:prSet presAssocID="{97B30364-8489-472E-8D6B-D633D16556C2}" presName="parTx" presStyleLbl="revTx" presStyleIdx="0" presStyleCnt="5">
        <dgm:presLayoutVars>
          <dgm:chMax val="0"/>
          <dgm:chPref val="0"/>
        </dgm:presLayoutVars>
      </dgm:prSet>
      <dgm:spPr/>
    </dgm:pt>
    <dgm:pt modelId="{BED23B62-5981-4E05-9032-2D7FA1E8764B}" type="pres">
      <dgm:prSet presAssocID="{25F82CC6-FD4D-497E-ACEA-ACB5E2ED49A7}" presName="sibTrans" presStyleCnt="0"/>
      <dgm:spPr/>
    </dgm:pt>
    <dgm:pt modelId="{556AD9CA-387D-4EAF-8EA3-B1B5413A9F54}" type="pres">
      <dgm:prSet presAssocID="{58615E0A-F871-4D4F-806F-FDDD1D68A0F7}" presName="compNode" presStyleCnt="0"/>
      <dgm:spPr/>
    </dgm:pt>
    <dgm:pt modelId="{8515E7A3-8AC3-4149-B5FD-F005B21CA78C}" type="pres">
      <dgm:prSet presAssocID="{58615E0A-F871-4D4F-806F-FDDD1D68A0F7}" presName="bgRect" presStyleLbl="bgShp" presStyleIdx="1" presStyleCnt="5"/>
      <dgm:spPr/>
    </dgm:pt>
    <dgm:pt modelId="{830955B1-D98B-41B8-BD2F-4C9A42D24B57}" type="pres">
      <dgm:prSet presAssocID="{58615E0A-F871-4D4F-806F-FDDD1D68A0F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B001DA59-48B2-42E6-8F37-9F92E4969268}" type="pres">
      <dgm:prSet presAssocID="{58615E0A-F871-4D4F-806F-FDDD1D68A0F7}" presName="spaceRect" presStyleCnt="0"/>
      <dgm:spPr/>
    </dgm:pt>
    <dgm:pt modelId="{9B7892C8-DAE8-485A-A222-BF8CAE7E08A2}" type="pres">
      <dgm:prSet presAssocID="{58615E0A-F871-4D4F-806F-FDDD1D68A0F7}" presName="parTx" presStyleLbl="revTx" presStyleIdx="1" presStyleCnt="5">
        <dgm:presLayoutVars>
          <dgm:chMax val="0"/>
          <dgm:chPref val="0"/>
        </dgm:presLayoutVars>
      </dgm:prSet>
      <dgm:spPr/>
    </dgm:pt>
    <dgm:pt modelId="{EF9E634F-352C-45C1-8227-F528DF5805FC}" type="pres">
      <dgm:prSet presAssocID="{C34D7988-EDE1-4383-9DED-4ED404997C20}" presName="sibTrans" presStyleCnt="0"/>
      <dgm:spPr/>
    </dgm:pt>
    <dgm:pt modelId="{60FD59AC-1C05-43FB-A7D3-E96ACBAFD21F}" type="pres">
      <dgm:prSet presAssocID="{1E3C6E69-278D-4F43-98C1-AB246A5141C1}" presName="compNode" presStyleCnt="0"/>
      <dgm:spPr/>
    </dgm:pt>
    <dgm:pt modelId="{2AAF7EE4-1386-40B7-A6B2-575E7F4AB74E}" type="pres">
      <dgm:prSet presAssocID="{1E3C6E69-278D-4F43-98C1-AB246A5141C1}" presName="bgRect" presStyleLbl="bgShp" presStyleIdx="2" presStyleCnt="5"/>
      <dgm:spPr/>
    </dgm:pt>
    <dgm:pt modelId="{5BDE2AF6-AC22-49BE-B289-61827F9DD98B}" type="pres">
      <dgm:prSet presAssocID="{1E3C6E69-278D-4F43-98C1-AB246A5141C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4CC87667-79A5-4AFA-BCFD-AB6FCC3C22D9}" type="pres">
      <dgm:prSet presAssocID="{1E3C6E69-278D-4F43-98C1-AB246A5141C1}" presName="spaceRect" presStyleCnt="0"/>
      <dgm:spPr/>
    </dgm:pt>
    <dgm:pt modelId="{310BFCC4-675A-48B2-929F-775B920406AD}" type="pres">
      <dgm:prSet presAssocID="{1E3C6E69-278D-4F43-98C1-AB246A5141C1}" presName="parTx" presStyleLbl="revTx" presStyleIdx="2" presStyleCnt="5">
        <dgm:presLayoutVars>
          <dgm:chMax val="0"/>
          <dgm:chPref val="0"/>
        </dgm:presLayoutVars>
      </dgm:prSet>
      <dgm:spPr/>
    </dgm:pt>
    <dgm:pt modelId="{D5CE77E5-83B6-4998-9F37-592F41D8E5A5}" type="pres">
      <dgm:prSet presAssocID="{F5377B77-8FB9-4A64-972C-7DC0B50CD05F}" presName="sibTrans" presStyleCnt="0"/>
      <dgm:spPr/>
    </dgm:pt>
    <dgm:pt modelId="{5C6FB633-D739-484A-95C1-994F21C35603}" type="pres">
      <dgm:prSet presAssocID="{7DD6CC4B-9A2C-425F-BF2F-5E2A813FD346}" presName="compNode" presStyleCnt="0"/>
      <dgm:spPr/>
    </dgm:pt>
    <dgm:pt modelId="{4FC28931-56F9-4DDA-AA7B-C480B1262277}" type="pres">
      <dgm:prSet presAssocID="{7DD6CC4B-9A2C-425F-BF2F-5E2A813FD346}" presName="bgRect" presStyleLbl="bgShp" presStyleIdx="3" presStyleCnt="5"/>
      <dgm:spPr/>
    </dgm:pt>
    <dgm:pt modelId="{3ADBD078-C273-45AD-804E-B9D219C945E7}" type="pres">
      <dgm:prSet presAssocID="{7DD6CC4B-9A2C-425F-BF2F-5E2A813FD34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iling Face with No Fill"/>
        </a:ext>
      </dgm:extLst>
    </dgm:pt>
    <dgm:pt modelId="{3E1474F6-FE28-49F5-AFB0-52D32B5F6B06}" type="pres">
      <dgm:prSet presAssocID="{7DD6CC4B-9A2C-425F-BF2F-5E2A813FD346}" presName="spaceRect" presStyleCnt="0"/>
      <dgm:spPr/>
    </dgm:pt>
    <dgm:pt modelId="{B8C0BA6F-3154-4282-AC40-8B5B1FD75A42}" type="pres">
      <dgm:prSet presAssocID="{7DD6CC4B-9A2C-425F-BF2F-5E2A813FD346}" presName="parTx" presStyleLbl="revTx" presStyleIdx="3" presStyleCnt="5">
        <dgm:presLayoutVars>
          <dgm:chMax val="0"/>
          <dgm:chPref val="0"/>
        </dgm:presLayoutVars>
      </dgm:prSet>
      <dgm:spPr/>
    </dgm:pt>
    <dgm:pt modelId="{43D5718B-C876-40A9-9DEC-92C933DA461E}" type="pres">
      <dgm:prSet presAssocID="{C62D6024-7908-4715-88EB-DA9A7B2BB753}" presName="sibTrans" presStyleCnt="0"/>
      <dgm:spPr/>
    </dgm:pt>
    <dgm:pt modelId="{E32C6272-3A32-4F1E-9A8D-A1A9767CF761}" type="pres">
      <dgm:prSet presAssocID="{4E259307-D699-4BEB-B933-E97A6C3F849B}" presName="compNode" presStyleCnt="0"/>
      <dgm:spPr/>
    </dgm:pt>
    <dgm:pt modelId="{6783B12B-6B04-4E08-8358-6E241B9FFAC8}" type="pres">
      <dgm:prSet presAssocID="{4E259307-D699-4BEB-B933-E97A6C3F849B}" presName="bgRect" presStyleLbl="bgShp" presStyleIdx="4" presStyleCnt="5"/>
      <dgm:spPr/>
    </dgm:pt>
    <dgm:pt modelId="{DCF7934C-C3FC-4B6A-BB03-FD3404F2D810}" type="pres">
      <dgm:prSet presAssocID="{4E259307-D699-4BEB-B933-E97A6C3F849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sers"/>
        </a:ext>
      </dgm:extLst>
    </dgm:pt>
    <dgm:pt modelId="{809941BC-5554-4C1A-B0DF-8DC7758086AB}" type="pres">
      <dgm:prSet presAssocID="{4E259307-D699-4BEB-B933-E97A6C3F849B}" presName="spaceRect" presStyleCnt="0"/>
      <dgm:spPr/>
    </dgm:pt>
    <dgm:pt modelId="{00AA14CB-66F7-40E0-84C7-B23FB405923A}" type="pres">
      <dgm:prSet presAssocID="{4E259307-D699-4BEB-B933-E97A6C3F849B}" presName="parTx" presStyleLbl="revTx" presStyleIdx="4" presStyleCnt="5">
        <dgm:presLayoutVars>
          <dgm:chMax val="0"/>
          <dgm:chPref val="0"/>
        </dgm:presLayoutVars>
      </dgm:prSet>
      <dgm:spPr/>
    </dgm:pt>
  </dgm:ptLst>
  <dgm:cxnLst>
    <dgm:cxn modelId="{56621B07-AEB0-4ED0-AE0E-E5F76BC29122}" type="presOf" srcId="{58615E0A-F871-4D4F-806F-FDDD1D68A0F7}" destId="{9B7892C8-DAE8-485A-A222-BF8CAE7E08A2}" srcOrd="0" destOrd="0" presId="urn:microsoft.com/office/officeart/2018/2/layout/IconVerticalSolidList"/>
    <dgm:cxn modelId="{4CD55F08-67DD-4005-9586-9964D73C7C7C}" type="presOf" srcId="{1E3C6E69-278D-4F43-98C1-AB246A5141C1}" destId="{310BFCC4-675A-48B2-929F-775B920406AD}" srcOrd="0" destOrd="0" presId="urn:microsoft.com/office/officeart/2018/2/layout/IconVerticalSolidList"/>
    <dgm:cxn modelId="{1C5F232C-C464-480F-B35F-AC0E80E64415}" srcId="{E5F6C873-5D51-4448-8C59-B49631CA9EB9}" destId="{97B30364-8489-472E-8D6B-D633D16556C2}" srcOrd="0" destOrd="0" parTransId="{95A347A4-B4D6-46A9-AD13-43333214EA72}" sibTransId="{25F82CC6-FD4D-497E-ACEA-ACB5E2ED49A7}"/>
    <dgm:cxn modelId="{7A9C914A-89A4-4B36-A902-BAB497D5D4D5}" srcId="{E5F6C873-5D51-4448-8C59-B49631CA9EB9}" destId="{1E3C6E69-278D-4F43-98C1-AB246A5141C1}" srcOrd="2" destOrd="0" parTransId="{E8A328BC-27AE-467F-BD8A-5E07E340CA2C}" sibTransId="{F5377B77-8FB9-4A64-972C-7DC0B50CD05F}"/>
    <dgm:cxn modelId="{A976E253-96CB-4404-86A5-CA90B3E7AA21}" srcId="{E5F6C873-5D51-4448-8C59-B49631CA9EB9}" destId="{58615E0A-F871-4D4F-806F-FDDD1D68A0F7}" srcOrd="1" destOrd="0" parTransId="{19B1F1E3-81D7-40AA-A737-320A57971959}" sibTransId="{C34D7988-EDE1-4383-9DED-4ED404997C20}"/>
    <dgm:cxn modelId="{A1686A55-DB55-4E89-BE2F-3A212578D905}" type="presOf" srcId="{97B30364-8489-472E-8D6B-D633D16556C2}" destId="{C7DAFC1C-48FE-413A-8898-EB2D55211A7F}" srcOrd="0" destOrd="0" presId="urn:microsoft.com/office/officeart/2018/2/layout/IconVerticalSolidList"/>
    <dgm:cxn modelId="{6E4F8F98-3C79-41DE-A4E9-DB9D4466AE0E}" type="presOf" srcId="{7DD6CC4B-9A2C-425F-BF2F-5E2A813FD346}" destId="{B8C0BA6F-3154-4282-AC40-8B5B1FD75A42}" srcOrd="0" destOrd="0" presId="urn:microsoft.com/office/officeart/2018/2/layout/IconVerticalSolidList"/>
    <dgm:cxn modelId="{7E80DA9C-D06D-406C-AF03-9902A8FDC68A}" type="presOf" srcId="{4E259307-D699-4BEB-B933-E97A6C3F849B}" destId="{00AA14CB-66F7-40E0-84C7-B23FB405923A}" srcOrd="0" destOrd="0" presId="urn:microsoft.com/office/officeart/2018/2/layout/IconVerticalSolidList"/>
    <dgm:cxn modelId="{273AE3B4-0D7A-4E2F-A504-BDE4B51F9285}" srcId="{E5F6C873-5D51-4448-8C59-B49631CA9EB9}" destId="{7DD6CC4B-9A2C-425F-BF2F-5E2A813FD346}" srcOrd="3" destOrd="0" parTransId="{4CB9AFD7-9BE2-4395-9A67-A46B47D0AAA7}" sibTransId="{C62D6024-7908-4715-88EB-DA9A7B2BB753}"/>
    <dgm:cxn modelId="{48AEE3C9-B809-47B1-8E60-22AEAD218DCC}" type="presOf" srcId="{E5F6C873-5D51-4448-8C59-B49631CA9EB9}" destId="{724ECE6D-C4BA-4CD8-A9FC-02654AE81A7B}" srcOrd="0" destOrd="0" presId="urn:microsoft.com/office/officeart/2018/2/layout/IconVerticalSolidList"/>
    <dgm:cxn modelId="{9B6A1FF1-0BEF-4CBD-8FA8-C734D21F61EE}" srcId="{E5F6C873-5D51-4448-8C59-B49631CA9EB9}" destId="{4E259307-D699-4BEB-B933-E97A6C3F849B}" srcOrd="4" destOrd="0" parTransId="{91DC692A-9331-4796-8C8E-4C4879B8CB78}" sibTransId="{9E0BB14B-0E50-4DB9-9E7C-3611EA1C09F2}"/>
    <dgm:cxn modelId="{0977DA63-21E5-4B4E-9CCC-2CB00AB2D5CF}" type="presParOf" srcId="{724ECE6D-C4BA-4CD8-A9FC-02654AE81A7B}" destId="{36A1A9A3-FD3B-465F-A1E0-4667E8AB6635}" srcOrd="0" destOrd="0" presId="urn:microsoft.com/office/officeart/2018/2/layout/IconVerticalSolidList"/>
    <dgm:cxn modelId="{DA0D1105-D42B-4ED0-9430-72E916AF544B}" type="presParOf" srcId="{36A1A9A3-FD3B-465F-A1E0-4667E8AB6635}" destId="{9E77BF28-0F0E-4A33-B1B1-576566F664C8}" srcOrd="0" destOrd="0" presId="urn:microsoft.com/office/officeart/2018/2/layout/IconVerticalSolidList"/>
    <dgm:cxn modelId="{B0AA6761-7907-4B74-A7F6-E0BB266648DA}" type="presParOf" srcId="{36A1A9A3-FD3B-465F-A1E0-4667E8AB6635}" destId="{7B12FC3C-EC84-4FD5-9F17-23350E11B879}" srcOrd="1" destOrd="0" presId="urn:microsoft.com/office/officeart/2018/2/layout/IconVerticalSolidList"/>
    <dgm:cxn modelId="{71531045-09FE-4A3C-849D-06D938BE3911}" type="presParOf" srcId="{36A1A9A3-FD3B-465F-A1E0-4667E8AB6635}" destId="{6EA021CB-C579-4052-AFDE-F5323E10AAB2}" srcOrd="2" destOrd="0" presId="urn:microsoft.com/office/officeart/2018/2/layout/IconVerticalSolidList"/>
    <dgm:cxn modelId="{23AEDA82-3817-43F4-9361-C87A152524C4}" type="presParOf" srcId="{36A1A9A3-FD3B-465F-A1E0-4667E8AB6635}" destId="{C7DAFC1C-48FE-413A-8898-EB2D55211A7F}" srcOrd="3" destOrd="0" presId="urn:microsoft.com/office/officeart/2018/2/layout/IconVerticalSolidList"/>
    <dgm:cxn modelId="{D0FD5C58-1C90-49EA-90DD-11FA9B0C140E}" type="presParOf" srcId="{724ECE6D-C4BA-4CD8-A9FC-02654AE81A7B}" destId="{BED23B62-5981-4E05-9032-2D7FA1E8764B}" srcOrd="1" destOrd="0" presId="urn:microsoft.com/office/officeart/2018/2/layout/IconVerticalSolidList"/>
    <dgm:cxn modelId="{0C500E87-7696-4DA9-BD52-262230A45747}" type="presParOf" srcId="{724ECE6D-C4BA-4CD8-A9FC-02654AE81A7B}" destId="{556AD9CA-387D-4EAF-8EA3-B1B5413A9F54}" srcOrd="2" destOrd="0" presId="urn:microsoft.com/office/officeart/2018/2/layout/IconVerticalSolidList"/>
    <dgm:cxn modelId="{310E7C4B-E1DB-4872-B9AE-B7D09DD276DD}" type="presParOf" srcId="{556AD9CA-387D-4EAF-8EA3-B1B5413A9F54}" destId="{8515E7A3-8AC3-4149-B5FD-F005B21CA78C}" srcOrd="0" destOrd="0" presId="urn:microsoft.com/office/officeart/2018/2/layout/IconVerticalSolidList"/>
    <dgm:cxn modelId="{1CC67983-035C-4DDD-AB88-E8B712A8347A}" type="presParOf" srcId="{556AD9CA-387D-4EAF-8EA3-B1B5413A9F54}" destId="{830955B1-D98B-41B8-BD2F-4C9A42D24B57}" srcOrd="1" destOrd="0" presId="urn:microsoft.com/office/officeart/2018/2/layout/IconVerticalSolidList"/>
    <dgm:cxn modelId="{7E5CB7F0-05A5-41AC-853C-64DC26510ECA}" type="presParOf" srcId="{556AD9CA-387D-4EAF-8EA3-B1B5413A9F54}" destId="{B001DA59-48B2-42E6-8F37-9F92E4969268}" srcOrd="2" destOrd="0" presId="urn:microsoft.com/office/officeart/2018/2/layout/IconVerticalSolidList"/>
    <dgm:cxn modelId="{37F5E933-811B-4A99-BCAB-374DD246DCA7}" type="presParOf" srcId="{556AD9CA-387D-4EAF-8EA3-B1B5413A9F54}" destId="{9B7892C8-DAE8-485A-A222-BF8CAE7E08A2}" srcOrd="3" destOrd="0" presId="urn:microsoft.com/office/officeart/2018/2/layout/IconVerticalSolidList"/>
    <dgm:cxn modelId="{E28961EF-097D-4BAD-8779-F02773C18AB6}" type="presParOf" srcId="{724ECE6D-C4BA-4CD8-A9FC-02654AE81A7B}" destId="{EF9E634F-352C-45C1-8227-F528DF5805FC}" srcOrd="3" destOrd="0" presId="urn:microsoft.com/office/officeart/2018/2/layout/IconVerticalSolidList"/>
    <dgm:cxn modelId="{4EB931E6-F590-4085-806A-DC7B5C1C01E4}" type="presParOf" srcId="{724ECE6D-C4BA-4CD8-A9FC-02654AE81A7B}" destId="{60FD59AC-1C05-43FB-A7D3-E96ACBAFD21F}" srcOrd="4" destOrd="0" presId="urn:microsoft.com/office/officeart/2018/2/layout/IconVerticalSolidList"/>
    <dgm:cxn modelId="{32867391-D8DD-4FB7-AAAA-F2F381FA785C}" type="presParOf" srcId="{60FD59AC-1C05-43FB-A7D3-E96ACBAFD21F}" destId="{2AAF7EE4-1386-40B7-A6B2-575E7F4AB74E}" srcOrd="0" destOrd="0" presId="urn:microsoft.com/office/officeart/2018/2/layout/IconVerticalSolidList"/>
    <dgm:cxn modelId="{E3F2996F-63D4-4444-A326-323DD3608FF6}" type="presParOf" srcId="{60FD59AC-1C05-43FB-A7D3-E96ACBAFD21F}" destId="{5BDE2AF6-AC22-49BE-B289-61827F9DD98B}" srcOrd="1" destOrd="0" presId="urn:microsoft.com/office/officeart/2018/2/layout/IconVerticalSolidList"/>
    <dgm:cxn modelId="{A94E1BDA-4DDA-423D-8AA8-D5B615225EFE}" type="presParOf" srcId="{60FD59AC-1C05-43FB-A7D3-E96ACBAFD21F}" destId="{4CC87667-79A5-4AFA-BCFD-AB6FCC3C22D9}" srcOrd="2" destOrd="0" presId="urn:microsoft.com/office/officeart/2018/2/layout/IconVerticalSolidList"/>
    <dgm:cxn modelId="{DC56C324-B5CA-4F94-ABB8-CB7E8D7F065A}" type="presParOf" srcId="{60FD59AC-1C05-43FB-A7D3-E96ACBAFD21F}" destId="{310BFCC4-675A-48B2-929F-775B920406AD}" srcOrd="3" destOrd="0" presId="urn:microsoft.com/office/officeart/2018/2/layout/IconVerticalSolidList"/>
    <dgm:cxn modelId="{E266B000-C7D8-45AE-8209-48E443628D07}" type="presParOf" srcId="{724ECE6D-C4BA-4CD8-A9FC-02654AE81A7B}" destId="{D5CE77E5-83B6-4998-9F37-592F41D8E5A5}" srcOrd="5" destOrd="0" presId="urn:microsoft.com/office/officeart/2018/2/layout/IconVerticalSolidList"/>
    <dgm:cxn modelId="{FCAE4840-8D43-41B1-92ED-25879F7AAA0A}" type="presParOf" srcId="{724ECE6D-C4BA-4CD8-A9FC-02654AE81A7B}" destId="{5C6FB633-D739-484A-95C1-994F21C35603}" srcOrd="6" destOrd="0" presId="urn:microsoft.com/office/officeart/2018/2/layout/IconVerticalSolidList"/>
    <dgm:cxn modelId="{003A0F77-A1BD-414F-821C-AB3CD1BF8BDC}" type="presParOf" srcId="{5C6FB633-D739-484A-95C1-994F21C35603}" destId="{4FC28931-56F9-4DDA-AA7B-C480B1262277}" srcOrd="0" destOrd="0" presId="urn:microsoft.com/office/officeart/2018/2/layout/IconVerticalSolidList"/>
    <dgm:cxn modelId="{B7F35957-AC0B-43AE-BCEA-5906488E7D81}" type="presParOf" srcId="{5C6FB633-D739-484A-95C1-994F21C35603}" destId="{3ADBD078-C273-45AD-804E-B9D219C945E7}" srcOrd="1" destOrd="0" presId="urn:microsoft.com/office/officeart/2018/2/layout/IconVerticalSolidList"/>
    <dgm:cxn modelId="{76BF4C9C-1C99-4908-B5B7-7AC219571A6E}" type="presParOf" srcId="{5C6FB633-D739-484A-95C1-994F21C35603}" destId="{3E1474F6-FE28-49F5-AFB0-52D32B5F6B06}" srcOrd="2" destOrd="0" presId="urn:microsoft.com/office/officeart/2018/2/layout/IconVerticalSolidList"/>
    <dgm:cxn modelId="{402AD355-32A2-499C-B2BD-5C976284F23C}" type="presParOf" srcId="{5C6FB633-D739-484A-95C1-994F21C35603}" destId="{B8C0BA6F-3154-4282-AC40-8B5B1FD75A42}" srcOrd="3" destOrd="0" presId="urn:microsoft.com/office/officeart/2018/2/layout/IconVerticalSolidList"/>
    <dgm:cxn modelId="{0F6FC893-2B86-4BFC-99CC-E00476DDCC67}" type="presParOf" srcId="{724ECE6D-C4BA-4CD8-A9FC-02654AE81A7B}" destId="{43D5718B-C876-40A9-9DEC-92C933DA461E}" srcOrd="7" destOrd="0" presId="urn:microsoft.com/office/officeart/2018/2/layout/IconVerticalSolidList"/>
    <dgm:cxn modelId="{19DE1AC1-62BF-4816-A9B0-3679973FF326}" type="presParOf" srcId="{724ECE6D-C4BA-4CD8-A9FC-02654AE81A7B}" destId="{E32C6272-3A32-4F1E-9A8D-A1A9767CF761}" srcOrd="8" destOrd="0" presId="urn:microsoft.com/office/officeart/2018/2/layout/IconVerticalSolidList"/>
    <dgm:cxn modelId="{E005D90C-3DE5-4E01-A58B-A8150E5DF3E2}" type="presParOf" srcId="{E32C6272-3A32-4F1E-9A8D-A1A9767CF761}" destId="{6783B12B-6B04-4E08-8358-6E241B9FFAC8}" srcOrd="0" destOrd="0" presId="urn:microsoft.com/office/officeart/2018/2/layout/IconVerticalSolidList"/>
    <dgm:cxn modelId="{2F3EC7C6-9039-4C46-AD0E-2FBE97E8E3F8}" type="presParOf" srcId="{E32C6272-3A32-4F1E-9A8D-A1A9767CF761}" destId="{DCF7934C-C3FC-4B6A-BB03-FD3404F2D810}" srcOrd="1" destOrd="0" presId="urn:microsoft.com/office/officeart/2018/2/layout/IconVerticalSolidList"/>
    <dgm:cxn modelId="{5E518418-8E83-48F1-AD03-67ED5907095A}" type="presParOf" srcId="{E32C6272-3A32-4F1E-9A8D-A1A9767CF761}" destId="{809941BC-5554-4C1A-B0DF-8DC7758086AB}" srcOrd="2" destOrd="0" presId="urn:microsoft.com/office/officeart/2018/2/layout/IconVerticalSolidList"/>
    <dgm:cxn modelId="{FF30E74A-A3C1-4F13-A55E-94C97C100444}" type="presParOf" srcId="{E32C6272-3A32-4F1E-9A8D-A1A9767CF761}" destId="{00AA14CB-66F7-40E0-84C7-B23FB405923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0D10C4B-9EE4-42F2-9E5F-E2497BAEBC2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6AA2A39-3007-444D-805B-031FC64FCBA7}">
      <dgm:prSet/>
      <dgm:spPr/>
      <dgm:t>
        <a:bodyPr/>
        <a:lstStyle/>
        <a:p>
          <a:r>
            <a:rPr lang="en-GB" dirty="0"/>
            <a:t>Less predictable</a:t>
          </a:r>
          <a:endParaRPr lang="en-US" dirty="0"/>
        </a:p>
      </dgm:t>
    </dgm:pt>
    <dgm:pt modelId="{03FFFD5B-E125-4A62-ABE6-BC7BAD7B2325}" type="parTrans" cxnId="{0309D096-1539-44B1-B3F1-0D17F5B5A874}">
      <dgm:prSet/>
      <dgm:spPr/>
      <dgm:t>
        <a:bodyPr/>
        <a:lstStyle/>
        <a:p>
          <a:endParaRPr lang="en-US"/>
        </a:p>
      </dgm:t>
    </dgm:pt>
    <dgm:pt modelId="{2FE01549-7C43-47B1-8AFC-F702DB500FA0}" type="sibTrans" cxnId="{0309D096-1539-44B1-B3F1-0D17F5B5A874}">
      <dgm:prSet/>
      <dgm:spPr/>
      <dgm:t>
        <a:bodyPr/>
        <a:lstStyle/>
        <a:p>
          <a:endParaRPr lang="en-US"/>
        </a:p>
      </dgm:t>
    </dgm:pt>
    <dgm:pt modelId="{108FF37F-80FD-4748-BF15-B6B51EE97733}">
      <dgm:prSet/>
      <dgm:spPr/>
      <dgm:t>
        <a:bodyPr/>
        <a:lstStyle/>
        <a:p>
          <a:r>
            <a:rPr lang="en-GB"/>
            <a:t>Lack of necessary documentation</a:t>
          </a:r>
          <a:endParaRPr lang="en-US"/>
        </a:p>
      </dgm:t>
    </dgm:pt>
    <dgm:pt modelId="{2BDF2B5F-FE56-4F4C-B4CE-329FA961178E}" type="parTrans" cxnId="{F03C1CAB-BAD3-42E3-8B4C-FC33E1618AD1}">
      <dgm:prSet/>
      <dgm:spPr/>
      <dgm:t>
        <a:bodyPr/>
        <a:lstStyle/>
        <a:p>
          <a:endParaRPr lang="en-US"/>
        </a:p>
      </dgm:t>
    </dgm:pt>
    <dgm:pt modelId="{47DAB220-CB59-444E-8BCF-D3E9F084BB25}" type="sibTrans" cxnId="{F03C1CAB-BAD3-42E3-8B4C-FC33E1618AD1}">
      <dgm:prSet/>
      <dgm:spPr/>
      <dgm:t>
        <a:bodyPr/>
        <a:lstStyle/>
        <a:p>
          <a:endParaRPr lang="en-US"/>
        </a:p>
      </dgm:t>
    </dgm:pt>
    <dgm:pt modelId="{5C7805D5-03EE-4313-ADA4-03EF21F532E6}">
      <dgm:prSet/>
      <dgm:spPr/>
      <dgm:t>
        <a:bodyPr/>
        <a:lstStyle/>
        <a:p>
          <a:r>
            <a:rPr lang="en-GB"/>
            <a:t>Greater demands on developers and clients</a:t>
          </a:r>
          <a:endParaRPr lang="en-US"/>
        </a:p>
      </dgm:t>
    </dgm:pt>
    <dgm:pt modelId="{53D14638-0C02-45C8-9912-289CE6552036}" type="parTrans" cxnId="{0EFD701C-49C5-43A4-98C9-23FCCF071036}">
      <dgm:prSet/>
      <dgm:spPr/>
      <dgm:t>
        <a:bodyPr/>
        <a:lstStyle/>
        <a:p>
          <a:endParaRPr lang="en-US"/>
        </a:p>
      </dgm:t>
    </dgm:pt>
    <dgm:pt modelId="{55138759-A971-4C7A-BE57-048F26050D5F}" type="sibTrans" cxnId="{0EFD701C-49C5-43A4-98C9-23FCCF071036}">
      <dgm:prSet/>
      <dgm:spPr/>
      <dgm:t>
        <a:bodyPr/>
        <a:lstStyle/>
        <a:p>
          <a:endParaRPr lang="en-US"/>
        </a:p>
      </dgm:t>
    </dgm:pt>
    <dgm:pt modelId="{CB0B120A-9AA0-45F9-9B63-7754CD87A5A2}" type="pres">
      <dgm:prSet presAssocID="{20D10C4B-9EE4-42F2-9E5F-E2497BAEBC29}" presName="root" presStyleCnt="0">
        <dgm:presLayoutVars>
          <dgm:dir/>
          <dgm:resizeHandles val="exact"/>
        </dgm:presLayoutVars>
      </dgm:prSet>
      <dgm:spPr/>
    </dgm:pt>
    <dgm:pt modelId="{85102BCF-34FF-4535-8807-F8EC36142F03}" type="pres">
      <dgm:prSet presAssocID="{B6AA2A39-3007-444D-805B-031FC64FCBA7}" presName="compNode" presStyleCnt="0"/>
      <dgm:spPr/>
    </dgm:pt>
    <dgm:pt modelId="{6D9688BD-EDF7-47CF-ADE4-2E80D86B9E59}" type="pres">
      <dgm:prSet presAssocID="{B6AA2A39-3007-444D-805B-031FC64FCBA7}" presName="bgRect" presStyleLbl="bgShp" presStyleIdx="0" presStyleCnt="3"/>
      <dgm:spPr/>
    </dgm:pt>
    <dgm:pt modelId="{D4D221E2-E634-4E63-97E7-4BBEDCEBA424}" type="pres">
      <dgm:prSet presAssocID="{B6AA2A39-3007-444D-805B-031FC64FCBA7}"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lose with solid fill"/>
        </a:ext>
      </dgm:extLst>
    </dgm:pt>
    <dgm:pt modelId="{FE311271-D640-4EC7-B498-7DB9AFEB82F2}" type="pres">
      <dgm:prSet presAssocID="{B6AA2A39-3007-444D-805B-031FC64FCBA7}" presName="spaceRect" presStyleCnt="0"/>
      <dgm:spPr/>
    </dgm:pt>
    <dgm:pt modelId="{7EE994EB-342E-46E6-87E1-52A0869FD1A2}" type="pres">
      <dgm:prSet presAssocID="{B6AA2A39-3007-444D-805B-031FC64FCBA7}" presName="parTx" presStyleLbl="revTx" presStyleIdx="0" presStyleCnt="3">
        <dgm:presLayoutVars>
          <dgm:chMax val="0"/>
          <dgm:chPref val="0"/>
        </dgm:presLayoutVars>
      </dgm:prSet>
      <dgm:spPr/>
    </dgm:pt>
    <dgm:pt modelId="{44560ADC-7BCE-4F5F-8B13-398F5CB12BC7}" type="pres">
      <dgm:prSet presAssocID="{2FE01549-7C43-47B1-8AFC-F702DB500FA0}" presName="sibTrans" presStyleCnt="0"/>
      <dgm:spPr/>
    </dgm:pt>
    <dgm:pt modelId="{EE94F9E9-6771-4C74-AD00-712B8D80CCA1}" type="pres">
      <dgm:prSet presAssocID="{108FF37F-80FD-4748-BF15-B6B51EE97733}" presName="compNode" presStyleCnt="0"/>
      <dgm:spPr/>
    </dgm:pt>
    <dgm:pt modelId="{9B8F79F4-0D4D-44B4-8DE2-D97CD0516466}" type="pres">
      <dgm:prSet presAssocID="{108FF37F-80FD-4748-BF15-B6B51EE97733}" presName="bgRect" presStyleLbl="bgShp" presStyleIdx="1" presStyleCnt="3"/>
      <dgm:spPr/>
    </dgm:pt>
    <dgm:pt modelId="{389E04B7-28D5-458D-B59D-CC21AB1FD7C9}" type="pres">
      <dgm:prSet presAssocID="{108FF37F-80FD-4748-BF15-B6B51EE9773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E32D04C2-3F6F-443C-81DD-2D0BB8D8FDC9}" type="pres">
      <dgm:prSet presAssocID="{108FF37F-80FD-4748-BF15-B6B51EE97733}" presName="spaceRect" presStyleCnt="0"/>
      <dgm:spPr/>
    </dgm:pt>
    <dgm:pt modelId="{E6CBF32E-5ECC-447D-BA2B-02DE98AFB511}" type="pres">
      <dgm:prSet presAssocID="{108FF37F-80FD-4748-BF15-B6B51EE97733}" presName="parTx" presStyleLbl="revTx" presStyleIdx="1" presStyleCnt="3">
        <dgm:presLayoutVars>
          <dgm:chMax val="0"/>
          <dgm:chPref val="0"/>
        </dgm:presLayoutVars>
      </dgm:prSet>
      <dgm:spPr/>
    </dgm:pt>
    <dgm:pt modelId="{97461CB4-8EA1-4584-AE08-FB408D022AA9}" type="pres">
      <dgm:prSet presAssocID="{47DAB220-CB59-444E-8BCF-D3E9F084BB25}" presName="sibTrans" presStyleCnt="0"/>
      <dgm:spPr/>
    </dgm:pt>
    <dgm:pt modelId="{FCC7E734-81DF-47C6-B793-C5D1A2353F2E}" type="pres">
      <dgm:prSet presAssocID="{5C7805D5-03EE-4313-ADA4-03EF21F532E6}" presName="compNode" presStyleCnt="0"/>
      <dgm:spPr/>
    </dgm:pt>
    <dgm:pt modelId="{66C4A30C-695A-473D-A446-37D72C42C8F8}" type="pres">
      <dgm:prSet presAssocID="{5C7805D5-03EE-4313-ADA4-03EF21F532E6}" presName="bgRect" presStyleLbl="bgShp" presStyleIdx="2" presStyleCnt="3"/>
      <dgm:spPr/>
    </dgm:pt>
    <dgm:pt modelId="{D0D2140B-92B7-4B1D-A780-97B0769EB376}" type="pres">
      <dgm:prSet presAssocID="{5C7805D5-03EE-4313-ADA4-03EF21F532E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D9EF78FC-EA44-4D4E-93C9-8309DCB894C4}" type="pres">
      <dgm:prSet presAssocID="{5C7805D5-03EE-4313-ADA4-03EF21F532E6}" presName="spaceRect" presStyleCnt="0"/>
      <dgm:spPr/>
    </dgm:pt>
    <dgm:pt modelId="{380D45FD-DFF8-4B6A-86DE-42D5EE2A7308}" type="pres">
      <dgm:prSet presAssocID="{5C7805D5-03EE-4313-ADA4-03EF21F532E6}" presName="parTx" presStyleLbl="revTx" presStyleIdx="2" presStyleCnt="3">
        <dgm:presLayoutVars>
          <dgm:chMax val="0"/>
          <dgm:chPref val="0"/>
        </dgm:presLayoutVars>
      </dgm:prSet>
      <dgm:spPr/>
    </dgm:pt>
  </dgm:ptLst>
  <dgm:cxnLst>
    <dgm:cxn modelId="{8151AD0F-2B33-4C8B-9A9E-2FD85FFA2BC4}" type="presOf" srcId="{108FF37F-80FD-4748-BF15-B6B51EE97733}" destId="{E6CBF32E-5ECC-447D-BA2B-02DE98AFB511}" srcOrd="0" destOrd="0" presId="urn:microsoft.com/office/officeart/2018/2/layout/IconVerticalSolidList"/>
    <dgm:cxn modelId="{0EFD701C-49C5-43A4-98C9-23FCCF071036}" srcId="{20D10C4B-9EE4-42F2-9E5F-E2497BAEBC29}" destId="{5C7805D5-03EE-4313-ADA4-03EF21F532E6}" srcOrd="2" destOrd="0" parTransId="{53D14638-0C02-45C8-9912-289CE6552036}" sibTransId="{55138759-A971-4C7A-BE57-048F26050D5F}"/>
    <dgm:cxn modelId="{20FADD70-54EA-479F-BCD2-CA3AF550B4C3}" type="presOf" srcId="{5C7805D5-03EE-4313-ADA4-03EF21F532E6}" destId="{380D45FD-DFF8-4B6A-86DE-42D5EE2A7308}" srcOrd="0" destOrd="0" presId="urn:microsoft.com/office/officeart/2018/2/layout/IconVerticalSolidList"/>
    <dgm:cxn modelId="{ACAA058C-3821-4D2B-98EF-0D90B6C28521}" type="presOf" srcId="{B6AA2A39-3007-444D-805B-031FC64FCBA7}" destId="{7EE994EB-342E-46E6-87E1-52A0869FD1A2}" srcOrd="0" destOrd="0" presId="urn:microsoft.com/office/officeart/2018/2/layout/IconVerticalSolidList"/>
    <dgm:cxn modelId="{1C39348E-89B2-48DE-8B90-F03496BEF9BE}" type="presOf" srcId="{20D10C4B-9EE4-42F2-9E5F-E2497BAEBC29}" destId="{CB0B120A-9AA0-45F9-9B63-7754CD87A5A2}" srcOrd="0" destOrd="0" presId="urn:microsoft.com/office/officeart/2018/2/layout/IconVerticalSolidList"/>
    <dgm:cxn modelId="{0309D096-1539-44B1-B3F1-0D17F5B5A874}" srcId="{20D10C4B-9EE4-42F2-9E5F-E2497BAEBC29}" destId="{B6AA2A39-3007-444D-805B-031FC64FCBA7}" srcOrd="0" destOrd="0" parTransId="{03FFFD5B-E125-4A62-ABE6-BC7BAD7B2325}" sibTransId="{2FE01549-7C43-47B1-8AFC-F702DB500FA0}"/>
    <dgm:cxn modelId="{F03C1CAB-BAD3-42E3-8B4C-FC33E1618AD1}" srcId="{20D10C4B-9EE4-42F2-9E5F-E2497BAEBC29}" destId="{108FF37F-80FD-4748-BF15-B6B51EE97733}" srcOrd="1" destOrd="0" parTransId="{2BDF2B5F-FE56-4F4C-B4CE-329FA961178E}" sibTransId="{47DAB220-CB59-444E-8BCF-D3E9F084BB25}"/>
    <dgm:cxn modelId="{E41E3795-6939-4B45-A6EC-C23A5053DA2D}" type="presParOf" srcId="{CB0B120A-9AA0-45F9-9B63-7754CD87A5A2}" destId="{85102BCF-34FF-4535-8807-F8EC36142F03}" srcOrd="0" destOrd="0" presId="urn:microsoft.com/office/officeart/2018/2/layout/IconVerticalSolidList"/>
    <dgm:cxn modelId="{72A63B74-043E-4E10-9696-435547F24399}" type="presParOf" srcId="{85102BCF-34FF-4535-8807-F8EC36142F03}" destId="{6D9688BD-EDF7-47CF-ADE4-2E80D86B9E59}" srcOrd="0" destOrd="0" presId="urn:microsoft.com/office/officeart/2018/2/layout/IconVerticalSolidList"/>
    <dgm:cxn modelId="{3678F8A0-FCA2-4831-97B0-FEA890DCB6EE}" type="presParOf" srcId="{85102BCF-34FF-4535-8807-F8EC36142F03}" destId="{D4D221E2-E634-4E63-97E7-4BBEDCEBA424}" srcOrd="1" destOrd="0" presId="urn:microsoft.com/office/officeart/2018/2/layout/IconVerticalSolidList"/>
    <dgm:cxn modelId="{4CF96E03-D654-4DBF-827F-3D298773B5F4}" type="presParOf" srcId="{85102BCF-34FF-4535-8807-F8EC36142F03}" destId="{FE311271-D640-4EC7-B498-7DB9AFEB82F2}" srcOrd="2" destOrd="0" presId="urn:microsoft.com/office/officeart/2018/2/layout/IconVerticalSolidList"/>
    <dgm:cxn modelId="{F5B28C31-7226-45D7-8EE3-12E580255C3E}" type="presParOf" srcId="{85102BCF-34FF-4535-8807-F8EC36142F03}" destId="{7EE994EB-342E-46E6-87E1-52A0869FD1A2}" srcOrd="3" destOrd="0" presId="urn:microsoft.com/office/officeart/2018/2/layout/IconVerticalSolidList"/>
    <dgm:cxn modelId="{2ED46B47-555C-45C4-B23B-7286C22CF1FE}" type="presParOf" srcId="{CB0B120A-9AA0-45F9-9B63-7754CD87A5A2}" destId="{44560ADC-7BCE-4F5F-8B13-398F5CB12BC7}" srcOrd="1" destOrd="0" presId="urn:microsoft.com/office/officeart/2018/2/layout/IconVerticalSolidList"/>
    <dgm:cxn modelId="{047F3AF9-B055-458C-AC9B-42EA27E5BD5C}" type="presParOf" srcId="{CB0B120A-9AA0-45F9-9B63-7754CD87A5A2}" destId="{EE94F9E9-6771-4C74-AD00-712B8D80CCA1}" srcOrd="2" destOrd="0" presId="urn:microsoft.com/office/officeart/2018/2/layout/IconVerticalSolidList"/>
    <dgm:cxn modelId="{A2F4CFED-BD5F-4CFA-AF74-2FCD90B86265}" type="presParOf" srcId="{EE94F9E9-6771-4C74-AD00-712B8D80CCA1}" destId="{9B8F79F4-0D4D-44B4-8DE2-D97CD0516466}" srcOrd="0" destOrd="0" presId="urn:microsoft.com/office/officeart/2018/2/layout/IconVerticalSolidList"/>
    <dgm:cxn modelId="{AACF528C-10F2-49D2-BA9E-FFCCECAB129F}" type="presParOf" srcId="{EE94F9E9-6771-4C74-AD00-712B8D80CCA1}" destId="{389E04B7-28D5-458D-B59D-CC21AB1FD7C9}" srcOrd="1" destOrd="0" presId="urn:microsoft.com/office/officeart/2018/2/layout/IconVerticalSolidList"/>
    <dgm:cxn modelId="{B1776BCF-532C-46EE-A06F-4326E5FACA37}" type="presParOf" srcId="{EE94F9E9-6771-4C74-AD00-712B8D80CCA1}" destId="{E32D04C2-3F6F-443C-81DD-2D0BB8D8FDC9}" srcOrd="2" destOrd="0" presId="urn:microsoft.com/office/officeart/2018/2/layout/IconVerticalSolidList"/>
    <dgm:cxn modelId="{ACC97D67-A333-4F85-B002-438205070211}" type="presParOf" srcId="{EE94F9E9-6771-4C74-AD00-712B8D80CCA1}" destId="{E6CBF32E-5ECC-447D-BA2B-02DE98AFB511}" srcOrd="3" destOrd="0" presId="urn:microsoft.com/office/officeart/2018/2/layout/IconVerticalSolidList"/>
    <dgm:cxn modelId="{CBA28A8D-6461-466E-A15C-4FB0CEFDBFDC}" type="presParOf" srcId="{CB0B120A-9AA0-45F9-9B63-7754CD87A5A2}" destId="{97461CB4-8EA1-4584-AE08-FB408D022AA9}" srcOrd="3" destOrd="0" presId="urn:microsoft.com/office/officeart/2018/2/layout/IconVerticalSolidList"/>
    <dgm:cxn modelId="{0EBDB818-97E0-4FBD-B8DD-8C6E4358C491}" type="presParOf" srcId="{CB0B120A-9AA0-45F9-9B63-7754CD87A5A2}" destId="{FCC7E734-81DF-47C6-B793-C5D1A2353F2E}" srcOrd="4" destOrd="0" presId="urn:microsoft.com/office/officeart/2018/2/layout/IconVerticalSolidList"/>
    <dgm:cxn modelId="{626BB9BF-4559-4273-9D4D-2B9F43C7B4C4}" type="presParOf" srcId="{FCC7E734-81DF-47C6-B793-C5D1A2353F2E}" destId="{66C4A30C-695A-473D-A446-37D72C42C8F8}" srcOrd="0" destOrd="0" presId="urn:microsoft.com/office/officeart/2018/2/layout/IconVerticalSolidList"/>
    <dgm:cxn modelId="{39DFF10E-E3D6-4938-8663-92D00D50F491}" type="presParOf" srcId="{FCC7E734-81DF-47C6-B793-C5D1A2353F2E}" destId="{D0D2140B-92B7-4B1D-A780-97B0769EB376}" srcOrd="1" destOrd="0" presId="urn:microsoft.com/office/officeart/2018/2/layout/IconVerticalSolidList"/>
    <dgm:cxn modelId="{B1D9E99E-9513-44D1-AC36-192E40DCCFD1}" type="presParOf" srcId="{FCC7E734-81DF-47C6-B793-C5D1A2353F2E}" destId="{D9EF78FC-EA44-4D4E-93C9-8309DCB894C4}" srcOrd="2" destOrd="0" presId="urn:microsoft.com/office/officeart/2018/2/layout/IconVerticalSolidList"/>
    <dgm:cxn modelId="{C8B50B0C-B3DD-403F-9DB9-398268C47165}" type="presParOf" srcId="{FCC7E734-81DF-47C6-B793-C5D1A2353F2E}" destId="{380D45FD-DFF8-4B6A-86DE-42D5EE2A730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77BF28-0F0E-4A33-B1B1-576566F664C8}">
      <dsp:nvSpPr>
        <dsp:cNvPr id="0" name=""/>
        <dsp:cNvSpPr/>
      </dsp:nvSpPr>
      <dsp:spPr>
        <a:xfrm>
          <a:off x="0" y="4366"/>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12FC3C-EC84-4FD5-9F17-23350E11B879}">
      <dsp:nvSpPr>
        <dsp:cNvPr id="0" name=""/>
        <dsp:cNvSpPr/>
      </dsp:nvSpPr>
      <dsp:spPr>
        <a:xfrm>
          <a:off x="281355" y="213639"/>
          <a:ext cx="511556" cy="5115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DAFC1C-48FE-413A-8898-EB2D55211A7F}">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GB" sz="1900" kern="1200" dirty="0"/>
            <a:t>Adapts to Changing Requirements</a:t>
          </a:r>
          <a:endParaRPr lang="en-US" sz="1900" kern="1200" dirty="0"/>
        </a:p>
      </dsp:txBody>
      <dsp:txXfrm>
        <a:off x="1074268" y="4366"/>
        <a:ext cx="5170996" cy="930102"/>
      </dsp:txXfrm>
    </dsp:sp>
    <dsp:sp modelId="{8515E7A3-8AC3-4149-B5FD-F005B21CA78C}">
      <dsp:nvSpPr>
        <dsp:cNvPr id="0" name=""/>
        <dsp:cNvSpPr/>
      </dsp:nvSpPr>
      <dsp:spPr>
        <a:xfrm>
          <a:off x="0" y="1166994"/>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0955B1-D98B-41B8-BD2F-4C9A42D24B57}">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7892C8-DAE8-485A-A222-BF8CAE7E08A2}">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GB" sz="1900" kern="1200"/>
            <a:t>Time-Efficient</a:t>
          </a:r>
          <a:endParaRPr lang="en-US" sz="1900" kern="1200"/>
        </a:p>
      </dsp:txBody>
      <dsp:txXfrm>
        <a:off x="1074268" y="1166994"/>
        <a:ext cx="5170996" cy="930102"/>
      </dsp:txXfrm>
    </dsp:sp>
    <dsp:sp modelId="{2AAF7EE4-1386-40B7-A6B2-575E7F4AB74E}">
      <dsp:nvSpPr>
        <dsp:cNvPr id="0" name=""/>
        <dsp:cNvSpPr/>
      </dsp:nvSpPr>
      <dsp:spPr>
        <a:xfrm>
          <a:off x="0" y="2329622"/>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DE2AF6-AC22-49BE-B289-61827F9DD98B}">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0BFCC4-675A-48B2-929F-775B920406AD}">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GB" sz="1900" kern="1200"/>
            <a:t>Frequent Changes</a:t>
          </a:r>
          <a:endParaRPr lang="en-US" sz="1900" kern="1200"/>
        </a:p>
      </dsp:txBody>
      <dsp:txXfrm>
        <a:off x="1074268" y="2329622"/>
        <a:ext cx="5170996" cy="930102"/>
      </dsp:txXfrm>
    </dsp:sp>
    <dsp:sp modelId="{4FC28931-56F9-4DDA-AA7B-C480B1262277}">
      <dsp:nvSpPr>
        <dsp:cNvPr id="0" name=""/>
        <dsp:cNvSpPr/>
      </dsp:nvSpPr>
      <dsp:spPr>
        <a:xfrm>
          <a:off x="0" y="3492250"/>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DBD078-C273-45AD-804E-B9D219C945E7}">
      <dsp:nvSpPr>
        <dsp:cNvPr id="0" name=""/>
        <dsp:cNvSpPr/>
      </dsp:nvSpPr>
      <dsp:spPr>
        <a:xfrm>
          <a:off x="281355" y="3701523"/>
          <a:ext cx="511556" cy="5115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C0BA6F-3154-4282-AC40-8B5B1FD75A42}">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GB" sz="1900" kern="1200"/>
            <a:t>Prioritize customer satisfaction</a:t>
          </a:r>
          <a:endParaRPr lang="en-US" sz="1900" kern="1200"/>
        </a:p>
      </dsp:txBody>
      <dsp:txXfrm>
        <a:off x="1074268" y="3492250"/>
        <a:ext cx="5170996" cy="930102"/>
      </dsp:txXfrm>
    </dsp:sp>
    <dsp:sp modelId="{6783B12B-6B04-4E08-8358-6E241B9FFAC8}">
      <dsp:nvSpPr>
        <dsp:cNvPr id="0" name=""/>
        <dsp:cNvSpPr/>
      </dsp:nvSpPr>
      <dsp:spPr>
        <a:xfrm>
          <a:off x="0" y="4654878"/>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F7934C-C3FC-4B6A-BB03-FD3404F2D810}">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AA14CB-66F7-40E0-84C7-B23FB405923A}">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GB" sz="1900" kern="1200"/>
            <a:t>Fosters collaborative teamwork</a:t>
          </a:r>
          <a:endParaRPr lang="en-US" sz="1900" kern="1200"/>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9688BD-EDF7-47CF-ADE4-2E80D86B9E59}">
      <dsp:nvSpPr>
        <dsp:cNvPr id="0" name=""/>
        <dsp:cNvSpPr/>
      </dsp:nvSpPr>
      <dsp:spPr>
        <a:xfrm>
          <a:off x="0" y="673"/>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D221E2-E634-4E63-97E7-4BBEDCEBA424}">
      <dsp:nvSpPr>
        <dsp:cNvPr id="0" name=""/>
        <dsp:cNvSpPr/>
      </dsp:nvSpPr>
      <dsp:spPr>
        <a:xfrm>
          <a:off x="476436" y="355047"/>
          <a:ext cx="866247" cy="86624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E994EB-342E-46E6-87E1-52A0869FD1A2}">
      <dsp:nvSpPr>
        <dsp:cNvPr id="0" name=""/>
        <dsp:cNvSpPr/>
      </dsp:nvSpPr>
      <dsp:spPr>
        <a:xfrm>
          <a:off x="1819120" y="673"/>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GB" sz="2500" kern="1200" dirty="0"/>
            <a:t>Less predictable</a:t>
          </a:r>
          <a:endParaRPr lang="en-US" sz="2500" kern="1200" dirty="0"/>
        </a:p>
      </dsp:txBody>
      <dsp:txXfrm>
        <a:off x="1819120" y="673"/>
        <a:ext cx="4545103" cy="1574995"/>
      </dsp:txXfrm>
    </dsp:sp>
    <dsp:sp modelId="{9B8F79F4-0D4D-44B4-8DE2-D97CD0516466}">
      <dsp:nvSpPr>
        <dsp:cNvPr id="0" name=""/>
        <dsp:cNvSpPr/>
      </dsp:nvSpPr>
      <dsp:spPr>
        <a:xfrm>
          <a:off x="0" y="1969418"/>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9E04B7-28D5-458D-B59D-CC21AB1FD7C9}">
      <dsp:nvSpPr>
        <dsp:cNvPr id="0" name=""/>
        <dsp:cNvSpPr/>
      </dsp:nvSpPr>
      <dsp:spPr>
        <a:xfrm>
          <a:off x="476436" y="2323792"/>
          <a:ext cx="866247" cy="8662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CBF32E-5ECC-447D-BA2B-02DE98AFB511}">
      <dsp:nvSpPr>
        <dsp:cNvPr id="0" name=""/>
        <dsp:cNvSpPr/>
      </dsp:nvSpPr>
      <dsp:spPr>
        <a:xfrm>
          <a:off x="1819120" y="1969418"/>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GB" sz="2500" kern="1200"/>
            <a:t>Lack of necessary documentation</a:t>
          </a:r>
          <a:endParaRPr lang="en-US" sz="2500" kern="1200"/>
        </a:p>
      </dsp:txBody>
      <dsp:txXfrm>
        <a:off x="1819120" y="1969418"/>
        <a:ext cx="4545103" cy="1574995"/>
      </dsp:txXfrm>
    </dsp:sp>
    <dsp:sp modelId="{66C4A30C-695A-473D-A446-37D72C42C8F8}">
      <dsp:nvSpPr>
        <dsp:cNvPr id="0" name=""/>
        <dsp:cNvSpPr/>
      </dsp:nvSpPr>
      <dsp:spPr>
        <a:xfrm>
          <a:off x="0" y="3938162"/>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D2140B-92B7-4B1D-A780-97B0769EB376}">
      <dsp:nvSpPr>
        <dsp:cNvPr id="0" name=""/>
        <dsp:cNvSpPr/>
      </dsp:nvSpPr>
      <dsp:spPr>
        <a:xfrm>
          <a:off x="476436" y="4292537"/>
          <a:ext cx="866247" cy="8662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0D45FD-DFF8-4B6A-86DE-42D5EE2A7308}">
      <dsp:nvSpPr>
        <dsp:cNvPr id="0" name=""/>
        <dsp:cNvSpPr/>
      </dsp:nvSpPr>
      <dsp:spPr>
        <a:xfrm>
          <a:off x="1819120" y="3938162"/>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GB" sz="2500" kern="1200"/>
            <a:t>Greater demands on developers and clients</a:t>
          </a:r>
          <a:endParaRPr lang="en-US" sz="2500" kern="1200"/>
        </a:p>
      </dsp:txBody>
      <dsp:txXfrm>
        <a:off x="1819120" y="3938162"/>
        <a:ext cx="4545103" cy="157499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E5AD60-437E-4D75-A213-EDBE3E9FD516}" type="datetimeFigureOut">
              <a:rPr lang="en-GB" smtClean="0"/>
              <a:t>04/11/2024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B8A9E0-236A-4E24-AB47-E764762908BD}" type="slidenum">
              <a:rPr lang="en-GB" smtClean="0"/>
              <a:t>‹#›</a:t>
            </a:fld>
            <a:endParaRPr lang="en-GB"/>
          </a:p>
        </p:txBody>
      </p:sp>
    </p:spTree>
    <p:extLst>
      <p:ext uri="{BB962C8B-B14F-4D97-AF65-F5344CB8AC3E}">
        <p14:creationId xmlns:p14="http://schemas.microsoft.com/office/powerpoint/2010/main" val="1269908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dirty="0"/>
              <a:t>In this stage, the project team identifies and document the needs and expectations of various stakeholders, including clients, users, and subject matter experts. It involves defining the project’s scope, objectives and requirements. Establishing a budget and schedule. Creating a project plan and allocating resources.</a:t>
            </a:r>
          </a:p>
          <a:p>
            <a:pPr marL="228600" indent="-228600">
              <a:buAutoNum type="arabicPeriod"/>
            </a:pPr>
            <a:r>
              <a:rPr lang="en-GB" dirty="0"/>
              <a:t>Which includes planning for the software’s user interface. Creating detailed specifications, with data structures, algorithms, and interfaces.</a:t>
            </a:r>
          </a:p>
          <a:p>
            <a:pPr marL="228600" indent="-228600">
              <a:buAutoNum type="arabicPeriod"/>
            </a:pPr>
            <a:r>
              <a:rPr lang="en-GB" dirty="0"/>
              <a:t>Writing the actual code for the software. Conducting unit testing to verify the functionality of individual components.</a:t>
            </a:r>
          </a:p>
          <a:p>
            <a:pPr marL="228600" indent="-228600">
              <a:buAutoNum type="arabicPeriod"/>
            </a:pPr>
            <a:r>
              <a:rPr lang="en-GB" dirty="0"/>
              <a:t>There can be several types of testing, for example User Accepting testing, where we confirming that the software meets user requirements. Or for example performance testing - Assessing the system’s speed, scalability, and stability.</a:t>
            </a:r>
          </a:p>
          <a:p>
            <a:pPr marL="228600" indent="-228600">
              <a:buAutoNum type="arabicPeriod"/>
            </a:pPr>
            <a:r>
              <a:rPr lang="en-GB" dirty="0"/>
              <a:t>Deploying the software to a production environment and Make sure it works smoothly in the real world.</a:t>
            </a:r>
          </a:p>
          <a:p>
            <a:pPr marL="228600" indent="-228600">
              <a:buAutoNum type="arabicPeriod"/>
            </a:pPr>
            <a:r>
              <a:rPr lang="en-GB" dirty="0"/>
              <a:t>Releasing updates and patches to enhance the software and address problems.</a:t>
            </a:r>
          </a:p>
          <a:p>
            <a:pPr marL="228600" indent="-228600">
              <a:buAutoNum type="arabicPeriod"/>
            </a:pPr>
            <a:endParaRPr lang="en-GB" dirty="0"/>
          </a:p>
        </p:txBody>
      </p:sp>
      <p:sp>
        <p:nvSpPr>
          <p:cNvPr id="4" name="Slide Number Placeholder 3"/>
          <p:cNvSpPr>
            <a:spLocks noGrp="1"/>
          </p:cNvSpPr>
          <p:nvPr>
            <p:ph type="sldNum" sz="quarter" idx="5"/>
          </p:nvPr>
        </p:nvSpPr>
        <p:spPr/>
        <p:txBody>
          <a:bodyPr/>
          <a:lstStyle/>
          <a:p>
            <a:fld id="{99B8A9E0-236A-4E24-AB47-E764762908BD}" type="slidenum">
              <a:rPr lang="en-GB" smtClean="0"/>
              <a:t>3</a:t>
            </a:fld>
            <a:endParaRPr lang="en-GB"/>
          </a:p>
        </p:txBody>
      </p:sp>
    </p:spTree>
    <p:extLst>
      <p:ext uri="{BB962C8B-B14F-4D97-AF65-F5344CB8AC3E}">
        <p14:creationId xmlns:p14="http://schemas.microsoft.com/office/powerpoint/2010/main" val="1639520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dirty="0"/>
              <a:t>It is a highly adaptable methodology in which rapidly changing requirements allowing responsive adjustments.</a:t>
            </a:r>
          </a:p>
          <a:p>
            <a:pPr marL="228600" indent="-228600">
              <a:buAutoNum type="arabicPeriod"/>
            </a:pPr>
            <a:r>
              <a:rPr lang="en-GB" dirty="0"/>
              <a:t>It is well-suited for its time-efficient practices, which help in delivering software quickly and reducing time-to-market.</a:t>
            </a:r>
          </a:p>
          <a:p>
            <a:pPr marL="228600" indent="-228600">
              <a:buAutoNum type="arabicPeriod"/>
            </a:pPr>
            <a:r>
              <a:rPr lang="en-GB" dirty="0"/>
              <a:t>It effectively manages and accommodates frequent changes in project requirements (according to stakeholder convenience).</a:t>
            </a:r>
          </a:p>
          <a:p>
            <a:pPr marL="228600" indent="-228600">
              <a:buAutoNum type="arabicPeriod"/>
            </a:pPr>
            <a:r>
              <a:rPr lang="en-GB" dirty="0"/>
              <a:t>teams can get feedback from their actual customers quickly and can focus on customer needs much more closely</a:t>
            </a:r>
          </a:p>
          <a:p>
            <a:pPr marL="228600" indent="-228600">
              <a:buAutoNum type="arabicPeriod"/>
            </a:pPr>
            <a:r>
              <a:rPr lang="en-GB" dirty="0"/>
              <a:t>Agile methodology encourages effective face-to-face communication.</a:t>
            </a:r>
          </a:p>
        </p:txBody>
      </p:sp>
      <p:sp>
        <p:nvSpPr>
          <p:cNvPr id="4" name="Slide Number Placeholder 3"/>
          <p:cNvSpPr>
            <a:spLocks noGrp="1"/>
          </p:cNvSpPr>
          <p:nvPr>
            <p:ph type="sldNum" sz="quarter" idx="5"/>
          </p:nvPr>
        </p:nvSpPr>
        <p:spPr/>
        <p:txBody>
          <a:bodyPr/>
          <a:lstStyle/>
          <a:p>
            <a:fld id="{99B8A9E0-236A-4E24-AB47-E764762908BD}" type="slidenum">
              <a:rPr lang="en-GB" smtClean="0"/>
              <a:t>5</a:t>
            </a:fld>
            <a:endParaRPr lang="en-GB"/>
          </a:p>
        </p:txBody>
      </p:sp>
    </p:spTree>
    <p:extLst>
      <p:ext uri="{BB962C8B-B14F-4D97-AF65-F5344CB8AC3E}">
        <p14:creationId xmlns:p14="http://schemas.microsoft.com/office/powerpoint/2010/main" val="1661064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dirty="0"/>
              <a:t>Due to it’s flexibility it’s harder to predict and estimate the time necessary, or quantify the resources and efforts required to complete a project.</a:t>
            </a:r>
          </a:p>
          <a:p>
            <a:pPr marL="228600" indent="-228600">
              <a:buAutoNum type="arabicPeriod"/>
            </a:pPr>
            <a:r>
              <a:rPr lang="en-GB" dirty="0"/>
              <a:t>Because tasks are often completed just in time for development under the Agile Method, documentation tends to be less thorough, which can lead to misunderstanding and difficulties down the road.</a:t>
            </a:r>
          </a:p>
          <a:p>
            <a:pPr marL="228600" indent="-228600">
              <a:buAutoNum type="arabicPeriod"/>
            </a:pPr>
            <a:r>
              <a:rPr lang="en-GB" dirty="0"/>
              <a:t>Agile demands more time and energy from everyone because developers and customers must constantly interact with each other</a:t>
            </a:r>
          </a:p>
          <a:p>
            <a:pPr marL="228600" indent="-228600">
              <a:buAutoNum type="arabicPeriod"/>
            </a:pPr>
            <a:endParaRPr lang="en-GB" dirty="0"/>
          </a:p>
        </p:txBody>
      </p:sp>
      <p:sp>
        <p:nvSpPr>
          <p:cNvPr id="4" name="Slide Number Placeholder 3"/>
          <p:cNvSpPr>
            <a:spLocks noGrp="1"/>
          </p:cNvSpPr>
          <p:nvPr>
            <p:ph type="sldNum" sz="quarter" idx="5"/>
          </p:nvPr>
        </p:nvSpPr>
        <p:spPr/>
        <p:txBody>
          <a:bodyPr/>
          <a:lstStyle/>
          <a:p>
            <a:fld id="{99B8A9E0-236A-4E24-AB47-E764762908BD}" type="slidenum">
              <a:rPr lang="en-GB" smtClean="0"/>
              <a:t>6</a:t>
            </a:fld>
            <a:endParaRPr lang="en-GB"/>
          </a:p>
        </p:txBody>
      </p:sp>
    </p:spTree>
    <p:extLst>
      <p:ext uri="{BB962C8B-B14F-4D97-AF65-F5344CB8AC3E}">
        <p14:creationId xmlns:p14="http://schemas.microsoft.com/office/powerpoint/2010/main" val="4289375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9B8A9E0-236A-4E24-AB47-E764762908BD}" type="slidenum">
              <a:rPr lang="en-GB" smtClean="0"/>
              <a:t>7</a:t>
            </a:fld>
            <a:endParaRPr lang="en-GB"/>
          </a:p>
        </p:txBody>
      </p:sp>
    </p:spTree>
    <p:extLst>
      <p:ext uri="{BB962C8B-B14F-4D97-AF65-F5344CB8AC3E}">
        <p14:creationId xmlns:p14="http://schemas.microsoft.com/office/powerpoint/2010/main" val="2569362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9B8A9E0-236A-4E24-AB47-E764762908BD}" type="slidenum">
              <a:rPr lang="en-GB" smtClean="0"/>
              <a:t>9</a:t>
            </a:fld>
            <a:endParaRPr lang="en-GB"/>
          </a:p>
        </p:txBody>
      </p:sp>
    </p:spTree>
    <p:extLst>
      <p:ext uri="{BB962C8B-B14F-4D97-AF65-F5344CB8AC3E}">
        <p14:creationId xmlns:p14="http://schemas.microsoft.com/office/powerpoint/2010/main" val="3327562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1.Clarity of requirements — if the requirements are precise and are very unlikely to change, then Waterfall is a good choice. But if the concept is vague and could have multiple changes, it will definitely work better with Agile or Lean, as they both repetitive.</a:t>
            </a:r>
          </a:p>
          <a:p>
            <a:r>
              <a:rPr lang="en-GB" dirty="0"/>
              <a:t>2. Depth of client involvement — Agile and Lean are perfect when the client shows genuine interest in the development process. There is Agile involving customers through frequent feedback and collaboration and Lean involving customers in the development process from beginning to end. On the other side, it is Waterfall involves customers primarily in the requirements gathering and design phases.</a:t>
            </a:r>
          </a:p>
          <a:p>
            <a:r>
              <a:rPr lang="en-GB" dirty="0"/>
              <a:t>3. Time constraint — Waterfall is all about fixed deadlines but when the time frames are not so strict you may go with Agile.</a:t>
            </a:r>
          </a:p>
          <a:p>
            <a:r>
              <a:rPr lang="en-GB" dirty="0"/>
              <a:t>4. Budget limits — the same principle as with the timeline: if the budget is tight then Waterfall and Lean are most suitable, while Agile works better with an unlimited or big budget. </a:t>
            </a:r>
          </a:p>
          <a:p>
            <a:r>
              <a:rPr lang="en-GB" dirty="0"/>
              <a:t>5. Intensity of team collaboration — Agile and Lean heavily emphasizes the role of communication within the team, with sprint reviews being organized regularly. Meanwhile, with the Waterfall approach developers can work more independently, each being responsible for their part of the project.</a:t>
            </a:r>
          </a:p>
          <a:p>
            <a:r>
              <a:rPr lang="en-GB" dirty="0"/>
              <a:t>6. Project type — Agile works perfectly for highly complex solutions while Waterfall is a better option for more straightforward projects and for delivering enhancements to existing products. While Lean is perfect for small projects where the team focusing only on what is required, lowering project cost and time.</a:t>
            </a:r>
          </a:p>
        </p:txBody>
      </p:sp>
      <p:sp>
        <p:nvSpPr>
          <p:cNvPr id="4" name="Slide Number Placeholder 3"/>
          <p:cNvSpPr>
            <a:spLocks noGrp="1"/>
          </p:cNvSpPr>
          <p:nvPr>
            <p:ph type="sldNum" sz="quarter" idx="5"/>
          </p:nvPr>
        </p:nvSpPr>
        <p:spPr/>
        <p:txBody>
          <a:bodyPr/>
          <a:lstStyle/>
          <a:p>
            <a:fld id="{99B8A9E0-236A-4E24-AB47-E764762908BD}" type="slidenum">
              <a:rPr lang="en-GB" smtClean="0"/>
              <a:t>10</a:t>
            </a:fld>
            <a:endParaRPr lang="en-GB"/>
          </a:p>
        </p:txBody>
      </p:sp>
    </p:spTree>
    <p:extLst>
      <p:ext uri="{BB962C8B-B14F-4D97-AF65-F5344CB8AC3E}">
        <p14:creationId xmlns:p14="http://schemas.microsoft.com/office/powerpoint/2010/main" val="4287584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9B8A9E0-236A-4E24-AB47-E764762908BD}" type="slidenum">
              <a:rPr lang="en-GB" smtClean="0"/>
              <a:t>11</a:t>
            </a:fld>
            <a:endParaRPr lang="en-GB"/>
          </a:p>
        </p:txBody>
      </p:sp>
    </p:spTree>
    <p:extLst>
      <p:ext uri="{BB962C8B-B14F-4D97-AF65-F5344CB8AC3E}">
        <p14:creationId xmlns:p14="http://schemas.microsoft.com/office/powerpoint/2010/main" val="2203055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Scrum methodology</a:t>
            </a:r>
          </a:p>
        </p:txBody>
      </p:sp>
      <p:sp>
        <p:nvSpPr>
          <p:cNvPr id="4" name="Slide Number Placeholder 3"/>
          <p:cNvSpPr>
            <a:spLocks noGrp="1"/>
          </p:cNvSpPr>
          <p:nvPr>
            <p:ph type="sldNum" sz="quarter" idx="5"/>
          </p:nvPr>
        </p:nvSpPr>
        <p:spPr/>
        <p:txBody>
          <a:bodyPr/>
          <a:lstStyle/>
          <a:p>
            <a:fld id="{99B8A9E0-236A-4E24-AB47-E764762908BD}" type="slidenum">
              <a:rPr lang="en-GB" smtClean="0"/>
              <a:t>12</a:t>
            </a:fld>
            <a:endParaRPr lang="en-GB"/>
          </a:p>
        </p:txBody>
      </p:sp>
    </p:spTree>
    <p:extLst>
      <p:ext uri="{BB962C8B-B14F-4D97-AF65-F5344CB8AC3E}">
        <p14:creationId xmlns:p14="http://schemas.microsoft.com/office/powerpoint/2010/main" val="771033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C78EA-196F-37A5-B490-9D19375590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B0CA47F-219D-EBD4-71F2-F259899EAB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4C5A324-B574-09E1-4E4A-D4D767B9D0D3}"/>
              </a:ext>
            </a:extLst>
          </p:cNvPr>
          <p:cNvSpPr>
            <a:spLocks noGrp="1"/>
          </p:cNvSpPr>
          <p:nvPr>
            <p:ph type="dt" sz="half" idx="10"/>
          </p:nvPr>
        </p:nvSpPr>
        <p:spPr/>
        <p:txBody>
          <a:bodyPr/>
          <a:lstStyle/>
          <a:p>
            <a:fld id="{1D650BA9-0BC6-49E6-9275-1EC1250B6A68}" type="datetimeFigureOut">
              <a:rPr lang="en-GB" smtClean="0"/>
              <a:t>04/11/2024</a:t>
            </a:fld>
            <a:endParaRPr lang="en-GB"/>
          </a:p>
        </p:txBody>
      </p:sp>
      <p:sp>
        <p:nvSpPr>
          <p:cNvPr id="5" name="Footer Placeholder 4">
            <a:extLst>
              <a:ext uri="{FF2B5EF4-FFF2-40B4-BE49-F238E27FC236}">
                <a16:creationId xmlns:a16="http://schemas.microsoft.com/office/drawing/2014/main" id="{F8AAF49E-2E1C-A02C-D7A8-C65A5DA18D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034A72-1488-36A8-C716-87DFFAEDA89F}"/>
              </a:ext>
            </a:extLst>
          </p:cNvPr>
          <p:cNvSpPr>
            <a:spLocks noGrp="1"/>
          </p:cNvSpPr>
          <p:nvPr>
            <p:ph type="sldNum" sz="quarter" idx="12"/>
          </p:nvPr>
        </p:nvSpPr>
        <p:spPr/>
        <p:txBody>
          <a:bodyPr/>
          <a:lstStyle/>
          <a:p>
            <a:fld id="{F3678BED-6670-4639-9397-47B40917DF72}" type="slidenum">
              <a:rPr lang="en-GB" smtClean="0"/>
              <a:t>‹#›</a:t>
            </a:fld>
            <a:endParaRPr lang="en-GB"/>
          </a:p>
        </p:txBody>
      </p:sp>
    </p:spTree>
    <p:extLst>
      <p:ext uri="{BB962C8B-B14F-4D97-AF65-F5344CB8AC3E}">
        <p14:creationId xmlns:p14="http://schemas.microsoft.com/office/powerpoint/2010/main" val="1719909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C1B40-CC4B-4D40-3955-71D3989E794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9A32F01-13F3-A9D8-A9F3-0E8DFFFCB0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AA6E3EF-86C8-766A-0C0C-80532B991F7F}"/>
              </a:ext>
            </a:extLst>
          </p:cNvPr>
          <p:cNvSpPr>
            <a:spLocks noGrp="1"/>
          </p:cNvSpPr>
          <p:nvPr>
            <p:ph type="dt" sz="half" idx="10"/>
          </p:nvPr>
        </p:nvSpPr>
        <p:spPr/>
        <p:txBody>
          <a:bodyPr/>
          <a:lstStyle/>
          <a:p>
            <a:fld id="{1D650BA9-0BC6-49E6-9275-1EC1250B6A68}" type="datetimeFigureOut">
              <a:rPr lang="en-GB" smtClean="0"/>
              <a:t>04/11/2024</a:t>
            </a:fld>
            <a:endParaRPr lang="en-GB"/>
          </a:p>
        </p:txBody>
      </p:sp>
      <p:sp>
        <p:nvSpPr>
          <p:cNvPr id="5" name="Footer Placeholder 4">
            <a:extLst>
              <a:ext uri="{FF2B5EF4-FFF2-40B4-BE49-F238E27FC236}">
                <a16:creationId xmlns:a16="http://schemas.microsoft.com/office/drawing/2014/main" id="{CDD7240B-12FD-1613-483D-256B040508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AA5EC4-6147-5535-9709-0FBD7692674E}"/>
              </a:ext>
            </a:extLst>
          </p:cNvPr>
          <p:cNvSpPr>
            <a:spLocks noGrp="1"/>
          </p:cNvSpPr>
          <p:nvPr>
            <p:ph type="sldNum" sz="quarter" idx="12"/>
          </p:nvPr>
        </p:nvSpPr>
        <p:spPr/>
        <p:txBody>
          <a:bodyPr/>
          <a:lstStyle/>
          <a:p>
            <a:fld id="{F3678BED-6670-4639-9397-47B40917DF72}" type="slidenum">
              <a:rPr lang="en-GB" smtClean="0"/>
              <a:t>‹#›</a:t>
            </a:fld>
            <a:endParaRPr lang="en-GB"/>
          </a:p>
        </p:txBody>
      </p:sp>
    </p:spTree>
    <p:extLst>
      <p:ext uri="{BB962C8B-B14F-4D97-AF65-F5344CB8AC3E}">
        <p14:creationId xmlns:p14="http://schemas.microsoft.com/office/powerpoint/2010/main" val="1654514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76AD8-ECC7-AC82-D62D-F8060F9710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2602B71-3CAA-59EC-7988-7665835502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665A80-E5C4-CCAC-A0DD-277E7C1B892B}"/>
              </a:ext>
            </a:extLst>
          </p:cNvPr>
          <p:cNvSpPr>
            <a:spLocks noGrp="1"/>
          </p:cNvSpPr>
          <p:nvPr>
            <p:ph type="dt" sz="half" idx="10"/>
          </p:nvPr>
        </p:nvSpPr>
        <p:spPr/>
        <p:txBody>
          <a:bodyPr/>
          <a:lstStyle/>
          <a:p>
            <a:fld id="{1D650BA9-0BC6-49E6-9275-1EC1250B6A68}" type="datetimeFigureOut">
              <a:rPr lang="en-GB" smtClean="0"/>
              <a:t>04/11/2024</a:t>
            </a:fld>
            <a:endParaRPr lang="en-GB"/>
          </a:p>
        </p:txBody>
      </p:sp>
      <p:sp>
        <p:nvSpPr>
          <p:cNvPr id="5" name="Footer Placeholder 4">
            <a:extLst>
              <a:ext uri="{FF2B5EF4-FFF2-40B4-BE49-F238E27FC236}">
                <a16:creationId xmlns:a16="http://schemas.microsoft.com/office/drawing/2014/main" id="{377983E3-FD76-1970-1FEA-A60C8462AB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79A8095-9799-D919-B93C-D082333346EF}"/>
              </a:ext>
            </a:extLst>
          </p:cNvPr>
          <p:cNvSpPr>
            <a:spLocks noGrp="1"/>
          </p:cNvSpPr>
          <p:nvPr>
            <p:ph type="sldNum" sz="quarter" idx="12"/>
          </p:nvPr>
        </p:nvSpPr>
        <p:spPr/>
        <p:txBody>
          <a:bodyPr/>
          <a:lstStyle/>
          <a:p>
            <a:fld id="{F3678BED-6670-4639-9397-47B40917DF72}" type="slidenum">
              <a:rPr lang="en-GB" smtClean="0"/>
              <a:t>‹#›</a:t>
            </a:fld>
            <a:endParaRPr lang="en-GB"/>
          </a:p>
        </p:txBody>
      </p:sp>
    </p:spTree>
    <p:extLst>
      <p:ext uri="{BB962C8B-B14F-4D97-AF65-F5344CB8AC3E}">
        <p14:creationId xmlns:p14="http://schemas.microsoft.com/office/powerpoint/2010/main" val="2085491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39940-B308-7B68-02EA-3F2E76E299E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11DAB27-FA9B-B9F5-8FD9-6CFD9D3414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C24BD15-A9EE-9B48-50F9-1100896F86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715B251-ABD5-E05A-EAEE-C2C824668B6D}"/>
              </a:ext>
            </a:extLst>
          </p:cNvPr>
          <p:cNvSpPr>
            <a:spLocks noGrp="1"/>
          </p:cNvSpPr>
          <p:nvPr>
            <p:ph type="dt" sz="half" idx="10"/>
          </p:nvPr>
        </p:nvSpPr>
        <p:spPr/>
        <p:txBody>
          <a:bodyPr/>
          <a:lstStyle/>
          <a:p>
            <a:fld id="{1D650BA9-0BC6-49E6-9275-1EC1250B6A68}" type="datetimeFigureOut">
              <a:rPr lang="en-GB" smtClean="0"/>
              <a:t>04/11/2024</a:t>
            </a:fld>
            <a:endParaRPr lang="en-GB"/>
          </a:p>
        </p:txBody>
      </p:sp>
      <p:sp>
        <p:nvSpPr>
          <p:cNvPr id="6" name="Footer Placeholder 5">
            <a:extLst>
              <a:ext uri="{FF2B5EF4-FFF2-40B4-BE49-F238E27FC236}">
                <a16:creationId xmlns:a16="http://schemas.microsoft.com/office/drawing/2014/main" id="{3910AC4D-FCBE-5523-419F-10C7920DB8F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868FCD5-9E62-60C3-9DBE-DDC38482EB58}"/>
              </a:ext>
            </a:extLst>
          </p:cNvPr>
          <p:cNvSpPr>
            <a:spLocks noGrp="1"/>
          </p:cNvSpPr>
          <p:nvPr>
            <p:ph type="sldNum" sz="quarter" idx="12"/>
          </p:nvPr>
        </p:nvSpPr>
        <p:spPr/>
        <p:txBody>
          <a:bodyPr/>
          <a:lstStyle/>
          <a:p>
            <a:fld id="{F3678BED-6670-4639-9397-47B40917DF72}" type="slidenum">
              <a:rPr lang="en-GB" smtClean="0"/>
              <a:t>‹#›</a:t>
            </a:fld>
            <a:endParaRPr lang="en-GB"/>
          </a:p>
        </p:txBody>
      </p:sp>
    </p:spTree>
    <p:extLst>
      <p:ext uri="{BB962C8B-B14F-4D97-AF65-F5344CB8AC3E}">
        <p14:creationId xmlns:p14="http://schemas.microsoft.com/office/powerpoint/2010/main" val="4186495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933BD-B65C-26E0-98C7-FC2C8BE8533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29917B-B71C-8F3F-093D-96D86EF075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32B105-D19A-ED8B-588D-7F89ABAAF7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41C4929-FB96-94A3-D036-C4EF331799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D64358-792D-73C9-816E-8B4F3306CE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DF231B0-B236-2830-ADDD-E90488D9DE75}"/>
              </a:ext>
            </a:extLst>
          </p:cNvPr>
          <p:cNvSpPr>
            <a:spLocks noGrp="1"/>
          </p:cNvSpPr>
          <p:nvPr>
            <p:ph type="dt" sz="half" idx="10"/>
          </p:nvPr>
        </p:nvSpPr>
        <p:spPr/>
        <p:txBody>
          <a:bodyPr/>
          <a:lstStyle/>
          <a:p>
            <a:fld id="{1D650BA9-0BC6-49E6-9275-1EC1250B6A68}" type="datetimeFigureOut">
              <a:rPr lang="en-GB" smtClean="0"/>
              <a:t>04/11/2024</a:t>
            </a:fld>
            <a:endParaRPr lang="en-GB"/>
          </a:p>
        </p:txBody>
      </p:sp>
      <p:sp>
        <p:nvSpPr>
          <p:cNvPr id="8" name="Footer Placeholder 7">
            <a:extLst>
              <a:ext uri="{FF2B5EF4-FFF2-40B4-BE49-F238E27FC236}">
                <a16:creationId xmlns:a16="http://schemas.microsoft.com/office/drawing/2014/main" id="{BC2AEE37-A464-95C8-482D-4331C118ACA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33F416D-94D1-605C-358E-7ED85A17FBB5}"/>
              </a:ext>
            </a:extLst>
          </p:cNvPr>
          <p:cNvSpPr>
            <a:spLocks noGrp="1"/>
          </p:cNvSpPr>
          <p:nvPr>
            <p:ph type="sldNum" sz="quarter" idx="12"/>
          </p:nvPr>
        </p:nvSpPr>
        <p:spPr/>
        <p:txBody>
          <a:bodyPr/>
          <a:lstStyle/>
          <a:p>
            <a:fld id="{F3678BED-6670-4639-9397-47B40917DF72}" type="slidenum">
              <a:rPr lang="en-GB" smtClean="0"/>
              <a:t>‹#›</a:t>
            </a:fld>
            <a:endParaRPr lang="en-GB"/>
          </a:p>
        </p:txBody>
      </p:sp>
    </p:spTree>
    <p:extLst>
      <p:ext uri="{BB962C8B-B14F-4D97-AF65-F5344CB8AC3E}">
        <p14:creationId xmlns:p14="http://schemas.microsoft.com/office/powerpoint/2010/main" val="3481305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E7DA1-387C-BA08-C4FA-37A4BDB49FB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7708F50-A8C3-6F5A-25B3-A513C21B0A35}"/>
              </a:ext>
            </a:extLst>
          </p:cNvPr>
          <p:cNvSpPr>
            <a:spLocks noGrp="1"/>
          </p:cNvSpPr>
          <p:nvPr>
            <p:ph type="dt" sz="half" idx="10"/>
          </p:nvPr>
        </p:nvSpPr>
        <p:spPr/>
        <p:txBody>
          <a:bodyPr/>
          <a:lstStyle/>
          <a:p>
            <a:fld id="{1D650BA9-0BC6-49E6-9275-1EC1250B6A68}" type="datetimeFigureOut">
              <a:rPr lang="en-GB" smtClean="0"/>
              <a:t>04/11/2024</a:t>
            </a:fld>
            <a:endParaRPr lang="en-GB"/>
          </a:p>
        </p:txBody>
      </p:sp>
      <p:sp>
        <p:nvSpPr>
          <p:cNvPr id="4" name="Footer Placeholder 3">
            <a:extLst>
              <a:ext uri="{FF2B5EF4-FFF2-40B4-BE49-F238E27FC236}">
                <a16:creationId xmlns:a16="http://schemas.microsoft.com/office/drawing/2014/main" id="{CF5507F9-C63B-C4A5-3037-94C5B636D6A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C4C7853-E1A0-97BD-D3CF-988D14F9C105}"/>
              </a:ext>
            </a:extLst>
          </p:cNvPr>
          <p:cNvSpPr>
            <a:spLocks noGrp="1"/>
          </p:cNvSpPr>
          <p:nvPr>
            <p:ph type="sldNum" sz="quarter" idx="12"/>
          </p:nvPr>
        </p:nvSpPr>
        <p:spPr/>
        <p:txBody>
          <a:bodyPr/>
          <a:lstStyle/>
          <a:p>
            <a:fld id="{F3678BED-6670-4639-9397-47B40917DF72}" type="slidenum">
              <a:rPr lang="en-GB" smtClean="0"/>
              <a:t>‹#›</a:t>
            </a:fld>
            <a:endParaRPr lang="en-GB"/>
          </a:p>
        </p:txBody>
      </p:sp>
    </p:spTree>
    <p:extLst>
      <p:ext uri="{BB962C8B-B14F-4D97-AF65-F5344CB8AC3E}">
        <p14:creationId xmlns:p14="http://schemas.microsoft.com/office/powerpoint/2010/main" val="194594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644D02-7DA5-83A9-8EE6-2CB6F3F92C6F}"/>
              </a:ext>
            </a:extLst>
          </p:cNvPr>
          <p:cNvSpPr>
            <a:spLocks noGrp="1"/>
          </p:cNvSpPr>
          <p:nvPr>
            <p:ph type="dt" sz="half" idx="10"/>
          </p:nvPr>
        </p:nvSpPr>
        <p:spPr/>
        <p:txBody>
          <a:bodyPr/>
          <a:lstStyle/>
          <a:p>
            <a:fld id="{1D650BA9-0BC6-49E6-9275-1EC1250B6A68}" type="datetimeFigureOut">
              <a:rPr lang="en-GB" smtClean="0"/>
              <a:t>04/11/2024</a:t>
            </a:fld>
            <a:endParaRPr lang="en-GB"/>
          </a:p>
        </p:txBody>
      </p:sp>
      <p:sp>
        <p:nvSpPr>
          <p:cNvPr id="3" name="Footer Placeholder 2">
            <a:extLst>
              <a:ext uri="{FF2B5EF4-FFF2-40B4-BE49-F238E27FC236}">
                <a16:creationId xmlns:a16="http://schemas.microsoft.com/office/drawing/2014/main" id="{BDA40ECF-E675-630C-E6B3-3C5BFD4607D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42B41DF-6BF9-CE6F-0DCE-1DFCE7B57A3E}"/>
              </a:ext>
            </a:extLst>
          </p:cNvPr>
          <p:cNvSpPr>
            <a:spLocks noGrp="1"/>
          </p:cNvSpPr>
          <p:nvPr>
            <p:ph type="sldNum" sz="quarter" idx="12"/>
          </p:nvPr>
        </p:nvSpPr>
        <p:spPr/>
        <p:txBody>
          <a:bodyPr/>
          <a:lstStyle/>
          <a:p>
            <a:fld id="{F3678BED-6670-4639-9397-47B40917DF72}" type="slidenum">
              <a:rPr lang="en-GB" smtClean="0"/>
              <a:t>‹#›</a:t>
            </a:fld>
            <a:endParaRPr lang="en-GB"/>
          </a:p>
        </p:txBody>
      </p:sp>
    </p:spTree>
    <p:extLst>
      <p:ext uri="{BB962C8B-B14F-4D97-AF65-F5344CB8AC3E}">
        <p14:creationId xmlns:p14="http://schemas.microsoft.com/office/powerpoint/2010/main" val="164644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6BE1F-5DD9-30F3-0D66-1D4D11984D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87CCD5B-5FCB-5727-0C37-A75F623074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24AB71B-671C-6979-930A-F289AEDDF6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649EAF-AF5F-56EF-6A82-B5B639804A04}"/>
              </a:ext>
            </a:extLst>
          </p:cNvPr>
          <p:cNvSpPr>
            <a:spLocks noGrp="1"/>
          </p:cNvSpPr>
          <p:nvPr>
            <p:ph type="dt" sz="half" idx="10"/>
          </p:nvPr>
        </p:nvSpPr>
        <p:spPr/>
        <p:txBody>
          <a:bodyPr/>
          <a:lstStyle/>
          <a:p>
            <a:fld id="{1D650BA9-0BC6-49E6-9275-1EC1250B6A68}" type="datetimeFigureOut">
              <a:rPr lang="en-GB" smtClean="0"/>
              <a:t>04/11/2024</a:t>
            </a:fld>
            <a:endParaRPr lang="en-GB"/>
          </a:p>
        </p:txBody>
      </p:sp>
      <p:sp>
        <p:nvSpPr>
          <p:cNvPr id="6" name="Footer Placeholder 5">
            <a:extLst>
              <a:ext uri="{FF2B5EF4-FFF2-40B4-BE49-F238E27FC236}">
                <a16:creationId xmlns:a16="http://schemas.microsoft.com/office/drawing/2014/main" id="{993061E3-FEB2-9CCC-0316-B04DE24E29E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B20408-3924-519F-2271-8F78FD1DC66A}"/>
              </a:ext>
            </a:extLst>
          </p:cNvPr>
          <p:cNvSpPr>
            <a:spLocks noGrp="1"/>
          </p:cNvSpPr>
          <p:nvPr>
            <p:ph type="sldNum" sz="quarter" idx="12"/>
          </p:nvPr>
        </p:nvSpPr>
        <p:spPr/>
        <p:txBody>
          <a:bodyPr/>
          <a:lstStyle/>
          <a:p>
            <a:fld id="{F3678BED-6670-4639-9397-47B40917DF72}" type="slidenum">
              <a:rPr lang="en-GB" smtClean="0"/>
              <a:t>‹#›</a:t>
            </a:fld>
            <a:endParaRPr lang="en-GB"/>
          </a:p>
        </p:txBody>
      </p:sp>
    </p:spTree>
    <p:extLst>
      <p:ext uri="{BB962C8B-B14F-4D97-AF65-F5344CB8AC3E}">
        <p14:creationId xmlns:p14="http://schemas.microsoft.com/office/powerpoint/2010/main" val="834385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0AA45-BBE1-7734-F04D-D839C50299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B9E9C34-862C-2EF8-7E66-0205558859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7D29F21-9DDD-2891-304D-7CDCB1C899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F8D88-3804-8817-ADEC-425B195235A6}"/>
              </a:ext>
            </a:extLst>
          </p:cNvPr>
          <p:cNvSpPr>
            <a:spLocks noGrp="1"/>
          </p:cNvSpPr>
          <p:nvPr>
            <p:ph type="dt" sz="half" idx="10"/>
          </p:nvPr>
        </p:nvSpPr>
        <p:spPr/>
        <p:txBody>
          <a:bodyPr/>
          <a:lstStyle/>
          <a:p>
            <a:fld id="{1D650BA9-0BC6-49E6-9275-1EC1250B6A68}" type="datetimeFigureOut">
              <a:rPr lang="en-GB" smtClean="0"/>
              <a:t>04/11/2024</a:t>
            </a:fld>
            <a:endParaRPr lang="en-GB"/>
          </a:p>
        </p:txBody>
      </p:sp>
      <p:sp>
        <p:nvSpPr>
          <p:cNvPr id="6" name="Footer Placeholder 5">
            <a:extLst>
              <a:ext uri="{FF2B5EF4-FFF2-40B4-BE49-F238E27FC236}">
                <a16:creationId xmlns:a16="http://schemas.microsoft.com/office/drawing/2014/main" id="{D4A4634E-C505-97D1-D8AD-B60D54D3C3A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7A79762-CEC6-C2FE-3F1B-75007CB78DE6}"/>
              </a:ext>
            </a:extLst>
          </p:cNvPr>
          <p:cNvSpPr>
            <a:spLocks noGrp="1"/>
          </p:cNvSpPr>
          <p:nvPr>
            <p:ph type="sldNum" sz="quarter" idx="12"/>
          </p:nvPr>
        </p:nvSpPr>
        <p:spPr/>
        <p:txBody>
          <a:bodyPr/>
          <a:lstStyle/>
          <a:p>
            <a:fld id="{F3678BED-6670-4639-9397-47B40917DF72}" type="slidenum">
              <a:rPr lang="en-GB" smtClean="0"/>
              <a:t>‹#›</a:t>
            </a:fld>
            <a:endParaRPr lang="en-GB"/>
          </a:p>
        </p:txBody>
      </p:sp>
    </p:spTree>
    <p:extLst>
      <p:ext uri="{BB962C8B-B14F-4D97-AF65-F5344CB8AC3E}">
        <p14:creationId xmlns:p14="http://schemas.microsoft.com/office/powerpoint/2010/main" val="334770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409BF-2B9D-D7B9-770B-37CFE275381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9F873C1-5412-7038-37D5-C30C992AEB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DA2746-950D-EA59-88B4-C05C325E62AF}"/>
              </a:ext>
            </a:extLst>
          </p:cNvPr>
          <p:cNvSpPr>
            <a:spLocks noGrp="1"/>
          </p:cNvSpPr>
          <p:nvPr>
            <p:ph type="dt" sz="half" idx="10"/>
          </p:nvPr>
        </p:nvSpPr>
        <p:spPr/>
        <p:txBody>
          <a:bodyPr/>
          <a:lstStyle/>
          <a:p>
            <a:fld id="{1D650BA9-0BC6-49E6-9275-1EC1250B6A68}" type="datetimeFigureOut">
              <a:rPr lang="en-GB" smtClean="0"/>
              <a:t>04/11/2024</a:t>
            </a:fld>
            <a:endParaRPr lang="en-GB"/>
          </a:p>
        </p:txBody>
      </p:sp>
      <p:sp>
        <p:nvSpPr>
          <p:cNvPr id="5" name="Footer Placeholder 4">
            <a:extLst>
              <a:ext uri="{FF2B5EF4-FFF2-40B4-BE49-F238E27FC236}">
                <a16:creationId xmlns:a16="http://schemas.microsoft.com/office/drawing/2014/main" id="{BE1BA9DF-D5B7-A67E-A3C7-92A8B4F1CA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2379B5-24E4-9FA3-99F9-9E9FA060DDCF}"/>
              </a:ext>
            </a:extLst>
          </p:cNvPr>
          <p:cNvSpPr>
            <a:spLocks noGrp="1"/>
          </p:cNvSpPr>
          <p:nvPr>
            <p:ph type="sldNum" sz="quarter" idx="12"/>
          </p:nvPr>
        </p:nvSpPr>
        <p:spPr/>
        <p:txBody>
          <a:bodyPr/>
          <a:lstStyle/>
          <a:p>
            <a:fld id="{F3678BED-6670-4639-9397-47B40917DF72}" type="slidenum">
              <a:rPr lang="en-GB" smtClean="0"/>
              <a:t>‹#›</a:t>
            </a:fld>
            <a:endParaRPr lang="en-GB"/>
          </a:p>
        </p:txBody>
      </p:sp>
    </p:spTree>
    <p:extLst>
      <p:ext uri="{BB962C8B-B14F-4D97-AF65-F5344CB8AC3E}">
        <p14:creationId xmlns:p14="http://schemas.microsoft.com/office/powerpoint/2010/main" val="1372996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9FACE4-1394-4DD8-1264-36DCEC3B1E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C2D46EB-23AA-698B-76A2-DB92099C0E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1989B7-7787-13B1-C3A1-B6F33A990C43}"/>
              </a:ext>
            </a:extLst>
          </p:cNvPr>
          <p:cNvSpPr>
            <a:spLocks noGrp="1"/>
          </p:cNvSpPr>
          <p:nvPr>
            <p:ph type="dt" sz="half" idx="10"/>
          </p:nvPr>
        </p:nvSpPr>
        <p:spPr/>
        <p:txBody>
          <a:bodyPr/>
          <a:lstStyle/>
          <a:p>
            <a:fld id="{1D650BA9-0BC6-49E6-9275-1EC1250B6A68}" type="datetimeFigureOut">
              <a:rPr lang="en-GB" smtClean="0"/>
              <a:t>04/11/2024</a:t>
            </a:fld>
            <a:endParaRPr lang="en-GB"/>
          </a:p>
        </p:txBody>
      </p:sp>
      <p:sp>
        <p:nvSpPr>
          <p:cNvPr id="5" name="Footer Placeholder 4">
            <a:extLst>
              <a:ext uri="{FF2B5EF4-FFF2-40B4-BE49-F238E27FC236}">
                <a16:creationId xmlns:a16="http://schemas.microsoft.com/office/drawing/2014/main" id="{E525F502-CEF1-D60E-FED3-DEEA3487F7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C06D8EE-20D3-4429-9596-D05DCA597FF5}"/>
              </a:ext>
            </a:extLst>
          </p:cNvPr>
          <p:cNvSpPr>
            <a:spLocks noGrp="1"/>
          </p:cNvSpPr>
          <p:nvPr>
            <p:ph type="sldNum" sz="quarter" idx="12"/>
          </p:nvPr>
        </p:nvSpPr>
        <p:spPr/>
        <p:txBody>
          <a:bodyPr/>
          <a:lstStyle/>
          <a:p>
            <a:fld id="{F3678BED-6670-4639-9397-47B40917DF72}" type="slidenum">
              <a:rPr lang="en-GB" smtClean="0"/>
              <a:t>‹#›</a:t>
            </a:fld>
            <a:endParaRPr lang="en-GB"/>
          </a:p>
        </p:txBody>
      </p:sp>
    </p:spTree>
    <p:extLst>
      <p:ext uri="{BB962C8B-B14F-4D97-AF65-F5344CB8AC3E}">
        <p14:creationId xmlns:p14="http://schemas.microsoft.com/office/powerpoint/2010/main" val="1001588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C77618-EC50-9808-CC9D-7516BEF12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D18485B-B034-E32A-267B-7FC75D80A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332901-5DF5-830E-0090-754CEEC205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650BA9-0BC6-49E6-9275-1EC1250B6A68}" type="datetimeFigureOut">
              <a:rPr lang="en-GB" smtClean="0"/>
              <a:t>04/11/2024</a:t>
            </a:fld>
            <a:endParaRPr lang="en-GB"/>
          </a:p>
        </p:txBody>
      </p:sp>
      <p:sp>
        <p:nvSpPr>
          <p:cNvPr id="5" name="Footer Placeholder 4">
            <a:extLst>
              <a:ext uri="{FF2B5EF4-FFF2-40B4-BE49-F238E27FC236}">
                <a16:creationId xmlns:a16="http://schemas.microsoft.com/office/drawing/2014/main" id="{F3A3DC40-1E8F-28E4-B0FA-46A9E0227B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56008AE-65F2-0DA3-9E40-2986A4F179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678BED-6670-4639-9397-47B40917DF72}" type="slidenum">
              <a:rPr lang="en-GB" smtClean="0"/>
              <a:t>‹#›</a:t>
            </a:fld>
            <a:endParaRPr lang="en-GB"/>
          </a:p>
        </p:txBody>
      </p:sp>
    </p:spTree>
    <p:extLst>
      <p:ext uri="{BB962C8B-B14F-4D97-AF65-F5344CB8AC3E}">
        <p14:creationId xmlns:p14="http://schemas.microsoft.com/office/powerpoint/2010/main" val="2324358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310DF-F926-672F-410C-A7323F0305E3}"/>
              </a:ext>
            </a:extLst>
          </p:cNvPr>
          <p:cNvSpPr>
            <a:spLocks noGrp="1"/>
          </p:cNvSpPr>
          <p:nvPr>
            <p:ph type="ctrTitle"/>
          </p:nvPr>
        </p:nvSpPr>
        <p:spPr>
          <a:xfrm>
            <a:off x="1524000" y="1600200"/>
            <a:ext cx="9144000" cy="2387600"/>
          </a:xfrm>
        </p:spPr>
        <p:txBody>
          <a:bodyPr>
            <a:normAutofit fontScale="90000"/>
          </a:bodyPr>
          <a:lstStyle/>
          <a:p>
            <a:r>
              <a:rPr lang="en-GB" dirty="0"/>
              <a:t>Overview of Agile </a:t>
            </a:r>
            <a:br>
              <a:rPr lang="en-GB" dirty="0"/>
            </a:br>
            <a:r>
              <a:rPr lang="en-GB" dirty="0"/>
              <a:t>Project Management Methodology</a:t>
            </a:r>
          </a:p>
        </p:txBody>
      </p:sp>
      <p:sp>
        <p:nvSpPr>
          <p:cNvPr id="3" name="Subtitle 2">
            <a:extLst>
              <a:ext uri="{FF2B5EF4-FFF2-40B4-BE49-F238E27FC236}">
                <a16:creationId xmlns:a16="http://schemas.microsoft.com/office/drawing/2014/main" id="{5B8EE0C2-97B2-C398-247A-64BE2B1285CA}"/>
              </a:ext>
            </a:extLst>
          </p:cNvPr>
          <p:cNvSpPr>
            <a:spLocks noGrp="1"/>
          </p:cNvSpPr>
          <p:nvPr>
            <p:ph type="subTitle" idx="1"/>
          </p:nvPr>
        </p:nvSpPr>
        <p:spPr>
          <a:xfrm>
            <a:off x="1524000" y="4090648"/>
            <a:ext cx="9144000" cy="1655762"/>
          </a:xfrm>
        </p:spPr>
        <p:txBody>
          <a:bodyPr/>
          <a:lstStyle/>
          <a:p>
            <a:r>
              <a:rPr lang="en-GB" dirty="0"/>
              <a:t>Presentation by Hanna Asiadouskaya</a:t>
            </a:r>
          </a:p>
        </p:txBody>
      </p:sp>
    </p:spTree>
    <p:extLst>
      <p:ext uri="{BB962C8B-B14F-4D97-AF65-F5344CB8AC3E}">
        <p14:creationId xmlns:p14="http://schemas.microsoft.com/office/powerpoint/2010/main" val="136271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F1F43F-3C6C-CEA2-2CFE-290C5FCDAB96}"/>
              </a:ext>
            </a:extLst>
          </p:cNvPr>
          <p:cNvSpPr>
            <a:spLocks noGrp="1"/>
          </p:cNvSpPr>
          <p:nvPr>
            <p:ph type="title"/>
          </p:nvPr>
        </p:nvSpPr>
        <p:spPr>
          <a:xfrm>
            <a:off x="841248" y="548640"/>
            <a:ext cx="3600860" cy="5431536"/>
          </a:xfrm>
        </p:spPr>
        <p:txBody>
          <a:bodyPr>
            <a:normAutofit/>
          </a:bodyPr>
          <a:lstStyle/>
          <a:p>
            <a:r>
              <a:rPr lang="en-GB" sz="4600"/>
              <a:t>What is the Agile methodology?</a:t>
            </a:r>
          </a:p>
        </p:txBody>
      </p:sp>
      <p:sp>
        <p:nvSpPr>
          <p:cNvPr id="24"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17C424E-C9CA-EA5F-C8C2-9B336E489433}"/>
              </a:ext>
            </a:extLst>
          </p:cNvPr>
          <p:cNvSpPr>
            <a:spLocks noGrp="1"/>
          </p:cNvSpPr>
          <p:nvPr>
            <p:ph idx="1"/>
          </p:nvPr>
        </p:nvSpPr>
        <p:spPr>
          <a:xfrm>
            <a:off x="5126418" y="552091"/>
            <a:ext cx="6224335" cy="5431536"/>
          </a:xfrm>
        </p:spPr>
        <p:txBody>
          <a:bodyPr anchor="ctr">
            <a:normAutofit/>
          </a:bodyPr>
          <a:lstStyle/>
          <a:p>
            <a:pPr marL="0" indent="0">
              <a:buNone/>
            </a:pPr>
            <a:r>
              <a:rPr lang="en-GB" sz="2200"/>
              <a:t>The Agile methodology is a project management approach that involves breaking the project into phases and adjusting to changing requirements.</a:t>
            </a:r>
          </a:p>
          <a:p>
            <a:pPr marL="0" indent="0">
              <a:buNone/>
            </a:pPr>
            <a:endParaRPr lang="en-GB" sz="2200"/>
          </a:p>
          <a:p>
            <a:pPr marL="0" indent="0">
              <a:buNone/>
            </a:pPr>
            <a:r>
              <a:rPr lang="en-GB" sz="2200"/>
              <a:t>So, It focuses on delivering smaller pieces of work regularly instead of one big launch. Also, this allows teams to adapt to changes quickly and provide customer value faster.</a:t>
            </a:r>
          </a:p>
          <a:p>
            <a:pPr marL="0" indent="0">
              <a:buNone/>
            </a:pPr>
            <a:endParaRPr lang="en-GB" sz="2200"/>
          </a:p>
        </p:txBody>
      </p:sp>
    </p:spTree>
    <p:extLst>
      <p:ext uri="{BB962C8B-B14F-4D97-AF65-F5344CB8AC3E}">
        <p14:creationId xmlns:p14="http://schemas.microsoft.com/office/powerpoint/2010/main" val="267095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31E34E-618A-10B8-0EC9-23D8BC323CCA}"/>
              </a:ext>
            </a:extLst>
          </p:cNvPr>
          <p:cNvSpPr>
            <a:spLocks noGrp="1"/>
          </p:cNvSpPr>
          <p:nvPr>
            <p:ph type="title"/>
          </p:nvPr>
        </p:nvSpPr>
        <p:spPr>
          <a:xfrm>
            <a:off x="630936" y="640080"/>
            <a:ext cx="4818888" cy="1481328"/>
          </a:xfrm>
        </p:spPr>
        <p:txBody>
          <a:bodyPr anchor="b">
            <a:normAutofit/>
          </a:bodyPr>
          <a:lstStyle/>
          <a:p>
            <a:r>
              <a:rPr lang="en-GB" sz="5000"/>
              <a:t>Life cycle of Agile Methodology</a:t>
            </a:r>
          </a:p>
        </p:txBody>
      </p:sp>
      <p:sp>
        <p:nvSpPr>
          <p:cNvPr id="15"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BF4A77B-E636-C138-D59B-472F71753D99}"/>
              </a:ext>
            </a:extLst>
          </p:cNvPr>
          <p:cNvSpPr>
            <a:spLocks noGrp="1"/>
          </p:cNvSpPr>
          <p:nvPr>
            <p:ph idx="1"/>
          </p:nvPr>
        </p:nvSpPr>
        <p:spPr>
          <a:xfrm>
            <a:off x="630936" y="2660904"/>
            <a:ext cx="4818888" cy="3547872"/>
          </a:xfrm>
        </p:spPr>
        <p:txBody>
          <a:bodyPr anchor="t">
            <a:normAutofit/>
          </a:bodyPr>
          <a:lstStyle/>
          <a:p>
            <a:pPr marL="514350" indent="-514350">
              <a:buAutoNum type="arabicPeriod"/>
            </a:pPr>
            <a:r>
              <a:rPr lang="en-GB" sz="2200" dirty="0"/>
              <a:t>Requirement Gathering</a:t>
            </a:r>
          </a:p>
          <a:p>
            <a:pPr marL="514350" indent="-514350">
              <a:buAutoNum type="arabicPeriod"/>
            </a:pPr>
            <a:r>
              <a:rPr lang="en-GB" sz="2200" dirty="0"/>
              <a:t>Design</a:t>
            </a:r>
          </a:p>
          <a:p>
            <a:pPr marL="514350" indent="-514350">
              <a:buAutoNum type="arabicPeriod"/>
            </a:pPr>
            <a:r>
              <a:rPr lang="en-GB" sz="2200" dirty="0"/>
              <a:t>Development</a:t>
            </a:r>
            <a:endParaRPr lang="ru-RU" sz="2200" dirty="0"/>
          </a:p>
          <a:p>
            <a:pPr marL="514350" indent="-514350">
              <a:buAutoNum type="arabicPeriod"/>
            </a:pPr>
            <a:r>
              <a:rPr lang="en-GB" sz="2200" dirty="0"/>
              <a:t>Testing</a:t>
            </a:r>
          </a:p>
          <a:p>
            <a:pPr marL="514350" indent="-514350">
              <a:buAutoNum type="arabicPeriod"/>
            </a:pPr>
            <a:r>
              <a:rPr lang="en-GB" sz="2200" dirty="0"/>
              <a:t>Deployment</a:t>
            </a:r>
          </a:p>
          <a:p>
            <a:pPr marL="514350" indent="-514350">
              <a:buAutoNum type="arabicPeriod"/>
            </a:pPr>
            <a:r>
              <a:rPr lang="en-GB" sz="2200" dirty="0"/>
              <a:t>Review</a:t>
            </a:r>
          </a:p>
        </p:txBody>
      </p:sp>
      <p:pic>
        <p:nvPicPr>
          <p:cNvPr id="5" name="Picture 4" descr="A diagram of a software development process&#10;&#10;Description automatically generated">
            <a:extLst>
              <a:ext uri="{FF2B5EF4-FFF2-40B4-BE49-F238E27FC236}">
                <a16:creationId xmlns:a16="http://schemas.microsoft.com/office/drawing/2014/main" id="{63BA066D-E179-8EEC-277C-97560044C1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4648" y="1465303"/>
            <a:ext cx="4818888" cy="3927393"/>
          </a:xfrm>
          <a:prstGeom prst="rect">
            <a:avLst/>
          </a:prstGeom>
        </p:spPr>
      </p:pic>
    </p:spTree>
    <p:extLst>
      <p:ext uri="{BB962C8B-B14F-4D97-AF65-F5344CB8AC3E}">
        <p14:creationId xmlns:p14="http://schemas.microsoft.com/office/powerpoint/2010/main" val="1611207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4F6217-994D-A9C1-A2ED-BF608DE6D688}"/>
              </a:ext>
            </a:extLst>
          </p:cNvPr>
          <p:cNvSpPr>
            <a:spLocks noGrp="1"/>
          </p:cNvSpPr>
          <p:nvPr>
            <p:ph type="title"/>
          </p:nvPr>
        </p:nvSpPr>
        <p:spPr>
          <a:xfrm>
            <a:off x="6739128" y="638089"/>
            <a:ext cx="4818888" cy="1476801"/>
          </a:xfrm>
        </p:spPr>
        <p:txBody>
          <a:bodyPr anchor="b">
            <a:normAutofit/>
          </a:bodyPr>
          <a:lstStyle/>
          <a:p>
            <a:r>
              <a:rPr lang="en-GB" sz="5000" dirty="0"/>
              <a:t>Types of Agile methodologies</a:t>
            </a:r>
          </a:p>
        </p:txBody>
      </p:sp>
      <p:pic>
        <p:nvPicPr>
          <p:cNvPr id="15" name="Picture 14">
            <a:extLst>
              <a:ext uri="{FF2B5EF4-FFF2-40B4-BE49-F238E27FC236}">
                <a16:creationId xmlns:a16="http://schemas.microsoft.com/office/drawing/2014/main" id="{4B294444-72EC-3564-7288-AF56F74F7823}"/>
              </a:ext>
            </a:extLst>
          </p:cNvPr>
          <p:cNvPicPr>
            <a:picLocks noChangeAspect="1"/>
          </p:cNvPicPr>
          <p:nvPr/>
        </p:nvPicPr>
        <p:blipFill>
          <a:blip r:embed="rId2"/>
          <a:stretch>
            <a:fillRect/>
          </a:stretch>
        </p:blipFill>
        <p:spPr>
          <a:xfrm>
            <a:off x="633984" y="829311"/>
            <a:ext cx="4513784" cy="4276810"/>
          </a:xfrm>
          <a:prstGeom prst="rect">
            <a:avLst/>
          </a:prstGeom>
        </p:spPr>
      </p:pic>
      <p:sp>
        <p:nvSpPr>
          <p:cNvPr id="22"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99A3BC9-B46D-4F39-2C94-22BE83D93150}"/>
              </a:ext>
            </a:extLst>
          </p:cNvPr>
          <p:cNvSpPr>
            <a:spLocks noGrp="1"/>
          </p:cNvSpPr>
          <p:nvPr>
            <p:ph idx="1"/>
          </p:nvPr>
        </p:nvSpPr>
        <p:spPr>
          <a:xfrm>
            <a:off x="6739128" y="2967716"/>
            <a:ext cx="4818888" cy="3550789"/>
          </a:xfrm>
        </p:spPr>
        <p:txBody>
          <a:bodyPr anchor="t">
            <a:normAutofit/>
          </a:bodyPr>
          <a:lstStyle/>
          <a:p>
            <a:pPr marL="0" indent="0">
              <a:buNone/>
            </a:pPr>
            <a:r>
              <a:rPr lang="en-GB" sz="2200" dirty="0"/>
              <a:t>Agile project management is not a singular framework but an umbrella term that includes a wide range of methodologies, including Scrum, Kanban, Extreme Programming (XP), and the Adaptive Project Framework (APF).</a:t>
            </a:r>
          </a:p>
        </p:txBody>
      </p:sp>
    </p:spTree>
    <p:extLst>
      <p:ext uri="{BB962C8B-B14F-4D97-AF65-F5344CB8AC3E}">
        <p14:creationId xmlns:p14="http://schemas.microsoft.com/office/powerpoint/2010/main" val="1118923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E7D2EC56-D46E-72CD-C4AF-E40BE956D5B7}"/>
              </a:ext>
            </a:extLst>
          </p:cNvPr>
          <p:cNvSpPr>
            <a:spLocks noGrp="1"/>
          </p:cNvSpPr>
          <p:nvPr>
            <p:ph type="title"/>
          </p:nvPr>
        </p:nvSpPr>
        <p:spPr>
          <a:xfrm>
            <a:off x="479393" y="833733"/>
            <a:ext cx="3939688" cy="5583126"/>
          </a:xfrm>
        </p:spPr>
        <p:txBody>
          <a:bodyPr>
            <a:normAutofit/>
          </a:bodyPr>
          <a:lstStyle/>
          <a:p>
            <a:pPr algn="r"/>
            <a:r>
              <a:rPr lang="en-GB" sz="5600" dirty="0"/>
              <a:t>Benefits of Agile Methodology</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8A51B49-1965-BAC2-8BB1-9F354B1CB896}"/>
              </a:ext>
            </a:extLst>
          </p:cNvPr>
          <p:cNvGraphicFramePr>
            <a:graphicFrameLocks noGrp="1"/>
          </p:cNvGraphicFramePr>
          <p:nvPr>
            <p:ph idx="1"/>
            <p:extLst>
              <p:ext uri="{D42A27DB-BD31-4B8C-83A1-F6EECF244321}">
                <p14:modId xmlns:p14="http://schemas.microsoft.com/office/powerpoint/2010/main" val="1441431604"/>
              </p:ext>
            </p:extLst>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93F108A1-2D27-56DB-FEAC-865F1004FD57}"/>
              </a:ext>
            </a:extLst>
          </p:cNvPr>
          <p:cNvSpPr/>
          <p:nvPr/>
        </p:nvSpPr>
        <p:spPr>
          <a:xfrm>
            <a:off x="4419081" y="33252"/>
            <a:ext cx="580466" cy="6841374"/>
          </a:xfrm>
          <a:prstGeom prst="rect">
            <a:avLst/>
          </a:prstGeom>
          <a:ln>
            <a:solidFill>
              <a:schemeClr val="bg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1008132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B4545A8-2093-1883-64E4-2F615459B520}"/>
              </a:ext>
            </a:extLst>
          </p:cNvPr>
          <p:cNvSpPr>
            <a:spLocks noGrp="1"/>
          </p:cNvSpPr>
          <p:nvPr>
            <p:ph type="title"/>
          </p:nvPr>
        </p:nvSpPr>
        <p:spPr>
          <a:xfrm>
            <a:off x="621792" y="1161288"/>
            <a:ext cx="3602736" cy="4526280"/>
          </a:xfrm>
        </p:spPr>
        <p:txBody>
          <a:bodyPr>
            <a:normAutofit/>
          </a:bodyPr>
          <a:lstStyle/>
          <a:p>
            <a:r>
              <a:rPr lang="en-GB" sz="4000"/>
              <a:t>Limitations of Agile Methodology</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7" name="Content Placeholder 2">
            <a:extLst>
              <a:ext uri="{FF2B5EF4-FFF2-40B4-BE49-F238E27FC236}">
                <a16:creationId xmlns:a16="http://schemas.microsoft.com/office/drawing/2014/main" id="{B064C23D-786B-2A3B-70E5-53E157E4C860}"/>
              </a:ext>
            </a:extLst>
          </p:cNvPr>
          <p:cNvGraphicFramePr>
            <a:graphicFrameLocks noGrp="1"/>
          </p:cNvGraphicFramePr>
          <p:nvPr>
            <p:ph idx="1"/>
            <p:extLst>
              <p:ext uri="{D42A27DB-BD31-4B8C-83A1-F6EECF244321}">
                <p14:modId xmlns:p14="http://schemas.microsoft.com/office/powerpoint/2010/main" val="3476127366"/>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34486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89066BF-0F61-FDF4-F446-156A1E710191}"/>
              </a:ext>
            </a:extLst>
          </p:cNvPr>
          <p:cNvSpPr>
            <a:spLocks noGrp="1"/>
          </p:cNvSpPr>
          <p:nvPr>
            <p:ph type="title"/>
          </p:nvPr>
        </p:nvSpPr>
        <p:spPr>
          <a:xfrm>
            <a:off x="621792" y="1161288"/>
            <a:ext cx="3602736" cy="4526280"/>
          </a:xfrm>
        </p:spPr>
        <p:txBody>
          <a:bodyPr>
            <a:normAutofit/>
          </a:bodyPr>
          <a:lstStyle/>
          <a:p>
            <a:r>
              <a:rPr lang="en-GB" sz="4000" dirty="0"/>
              <a:t>Popular Agile Tools for Software Development</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78CC220-D0B3-8E95-5EDC-E8D4D189C3C4}"/>
              </a:ext>
            </a:extLst>
          </p:cNvPr>
          <p:cNvSpPr>
            <a:spLocks noGrp="1"/>
          </p:cNvSpPr>
          <p:nvPr>
            <p:ph idx="1"/>
          </p:nvPr>
        </p:nvSpPr>
        <p:spPr>
          <a:xfrm>
            <a:off x="5433269" y="136821"/>
            <a:ext cx="5916603" cy="3292179"/>
          </a:xfrm>
        </p:spPr>
        <p:txBody>
          <a:bodyPr anchor="ctr">
            <a:normAutofit/>
          </a:bodyPr>
          <a:lstStyle/>
          <a:p>
            <a:pPr marL="0" indent="0">
              <a:buNone/>
            </a:pPr>
            <a:r>
              <a:rPr lang="en-GB" sz="1700" dirty="0"/>
              <a:t>An Agile Tool for software development is a software application or a platform that enables the teams to manage and track the Agile project more efficiently.</a:t>
            </a:r>
          </a:p>
          <a:p>
            <a:pPr marL="0" indent="0">
              <a:buNone/>
            </a:pPr>
            <a:r>
              <a:rPr lang="en-GB" sz="1700" dirty="0"/>
              <a:t>Some popular agile services are:</a:t>
            </a:r>
          </a:p>
          <a:p>
            <a:pPr marL="0" indent="0">
              <a:buNone/>
            </a:pPr>
            <a:r>
              <a:rPr lang="en-GB" sz="1700" dirty="0"/>
              <a:t>1.Jira</a:t>
            </a:r>
          </a:p>
          <a:p>
            <a:pPr marL="0" indent="0">
              <a:buNone/>
            </a:pPr>
            <a:r>
              <a:rPr lang="en-GB" sz="1700" dirty="0"/>
              <a:t>2.ClickUp</a:t>
            </a:r>
          </a:p>
          <a:p>
            <a:pPr marL="0" indent="0">
              <a:buNone/>
            </a:pPr>
            <a:r>
              <a:rPr lang="en-GB" sz="1700" dirty="0"/>
              <a:t>3.Mural</a:t>
            </a:r>
          </a:p>
          <a:p>
            <a:pPr marL="0" indent="0">
              <a:buNone/>
            </a:pPr>
            <a:r>
              <a:rPr lang="en-GB" sz="1700" dirty="0"/>
              <a:t>4.Kanbanize</a:t>
            </a:r>
          </a:p>
          <a:p>
            <a:pPr marL="0" indent="0">
              <a:buNone/>
            </a:pPr>
            <a:r>
              <a:rPr lang="en-GB" sz="1700" dirty="0"/>
              <a:t>5.GitHub</a:t>
            </a:r>
          </a:p>
        </p:txBody>
      </p:sp>
      <p:sp>
        <p:nvSpPr>
          <p:cNvPr id="4" name="TextBox 3">
            <a:extLst>
              <a:ext uri="{FF2B5EF4-FFF2-40B4-BE49-F238E27FC236}">
                <a16:creationId xmlns:a16="http://schemas.microsoft.com/office/drawing/2014/main" id="{A6A91743-91BF-35A4-0571-512C6A95A8F1}"/>
              </a:ext>
            </a:extLst>
          </p:cNvPr>
          <p:cNvSpPr txBox="1"/>
          <p:nvPr/>
        </p:nvSpPr>
        <p:spPr>
          <a:xfrm>
            <a:off x="5433269" y="3437466"/>
            <a:ext cx="6350000" cy="1754326"/>
          </a:xfrm>
          <a:prstGeom prst="rect">
            <a:avLst/>
          </a:prstGeom>
          <a:noFill/>
        </p:spPr>
        <p:txBody>
          <a:bodyPr wrap="square" rtlCol="0">
            <a:spAutoFit/>
          </a:bodyPr>
          <a:lstStyle/>
          <a:p>
            <a:r>
              <a:rPr lang="en-GB" dirty="0"/>
              <a:t>Where you can find:</a:t>
            </a:r>
            <a:br>
              <a:rPr lang="en-GB" dirty="0"/>
            </a:br>
            <a:r>
              <a:rPr lang="en-GB" dirty="0"/>
              <a:t>- Interactive timelines</a:t>
            </a:r>
          </a:p>
          <a:p>
            <a:r>
              <a:rPr lang="en-GB" dirty="0"/>
              <a:t>- Scrum and Kanban boards</a:t>
            </a:r>
          </a:p>
          <a:p>
            <a:pPr marL="285750" indent="-285750">
              <a:buFontTx/>
              <a:buChar char="-"/>
            </a:pPr>
            <a:r>
              <a:rPr lang="en-GB" dirty="0"/>
              <a:t>Customizable workflows</a:t>
            </a:r>
          </a:p>
          <a:p>
            <a:pPr marL="285750" indent="-285750">
              <a:buFontTx/>
              <a:buChar char="-"/>
            </a:pPr>
            <a:r>
              <a:rPr lang="en-GB" dirty="0"/>
              <a:t>Sprints</a:t>
            </a:r>
          </a:p>
          <a:p>
            <a:endParaRPr lang="en-GB" dirty="0"/>
          </a:p>
        </p:txBody>
      </p:sp>
      <p:sp>
        <p:nvSpPr>
          <p:cNvPr id="5" name="TextBox 4">
            <a:extLst>
              <a:ext uri="{FF2B5EF4-FFF2-40B4-BE49-F238E27FC236}">
                <a16:creationId xmlns:a16="http://schemas.microsoft.com/office/drawing/2014/main" id="{6B6638AD-76A3-2DC6-58DA-00E8D8C45900}"/>
              </a:ext>
            </a:extLst>
          </p:cNvPr>
          <p:cNvSpPr txBox="1"/>
          <p:nvPr/>
        </p:nvSpPr>
        <p:spPr>
          <a:xfrm>
            <a:off x="5440679" y="4923260"/>
            <a:ext cx="6282267" cy="1477328"/>
          </a:xfrm>
          <a:prstGeom prst="rect">
            <a:avLst/>
          </a:prstGeom>
          <a:noFill/>
        </p:spPr>
        <p:txBody>
          <a:bodyPr wrap="square" rtlCol="0">
            <a:spAutoFit/>
          </a:bodyPr>
          <a:lstStyle/>
          <a:p>
            <a:r>
              <a:rPr lang="en-GB" dirty="0"/>
              <a:t>Some other tools that can be integrated on working flow:</a:t>
            </a:r>
          </a:p>
          <a:p>
            <a:pPr marL="285750" indent="-285750">
              <a:buFontTx/>
              <a:buChar char="-"/>
            </a:pPr>
            <a:r>
              <a:rPr lang="en-GB" dirty="0"/>
              <a:t>Figma </a:t>
            </a:r>
          </a:p>
          <a:p>
            <a:pPr marL="285750" indent="-285750">
              <a:buFontTx/>
              <a:buChar char="-"/>
            </a:pPr>
            <a:r>
              <a:rPr lang="en-GB" dirty="0"/>
              <a:t>Google sheets</a:t>
            </a:r>
          </a:p>
          <a:p>
            <a:pPr marL="285750" indent="-285750">
              <a:buFontTx/>
              <a:buChar char="-"/>
            </a:pPr>
            <a:r>
              <a:rPr lang="en-GB" dirty="0"/>
              <a:t>Trello</a:t>
            </a:r>
          </a:p>
          <a:p>
            <a:pPr marL="285750" indent="-285750">
              <a:buFontTx/>
              <a:buChar char="-"/>
            </a:pPr>
            <a:endParaRPr lang="en-GB" dirty="0"/>
          </a:p>
        </p:txBody>
      </p:sp>
    </p:spTree>
    <p:extLst>
      <p:ext uri="{BB962C8B-B14F-4D97-AF65-F5344CB8AC3E}">
        <p14:creationId xmlns:p14="http://schemas.microsoft.com/office/powerpoint/2010/main" val="2536785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995D5D-998F-2D36-2ADE-BF5DBA8ADEBA}"/>
              </a:ext>
            </a:extLst>
          </p:cNvPr>
          <p:cNvSpPr>
            <a:spLocks noGrp="1"/>
          </p:cNvSpPr>
          <p:nvPr>
            <p:ph type="title"/>
          </p:nvPr>
        </p:nvSpPr>
        <p:spPr>
          <a:xfrm>
            <a:off x="6739128" y="638089"/>
            <a:ext cx="4818888" cy="1476801"/>
          </a:xfrm>
        </p:spPr>
        <p:txBody>
          <a:bodyPr anchor="b">
            <a:normAutofit/>
          </a:bodyPr>
          <a:lstStyle/>
          <a:p>
            <a:r>
              <a:rPr lang="en-GB" sz="5000" dirty="0"/>
              <a:t>Waterfall</a:t>
            </a:r>
          </a:p>
        </p:txBody>
      </p:sp>
      <p:pic>
        <p:nvPicPr>
          <p:cNvPr id="5" name="Picture 4" descr="A diagram of a waterfall&#10;&#10;Description automatically generated">
            <a:extLst>
              <a:ext uri="{FF2B5EF4-FFF2-40B4-BE49-F238E27FC236}">
                <a16:creationId xmlns:a16="http://schemas.microsoft.com/office/drawing/2014/main" id="{8F585F97-952A-1BF3-E738-1F31042F254A}"/>
              </a:ext>
            </a:extLst>
          </p:cNvPr>
          <p:cNvPicPr>
            <a:picLocks noChangeAspect="1"/>
          </p:cNvPicPr>
          <p:nvPr/>
        </p:nvPicPr>
        <p:blipFill>
          <a:blip r:embed="rId2"/>
          <a:stretch>
            <a:fillRect/>
          </a:stretch>
        </p:blipFill>
        <p:spPr>
          <a:xfrm>
            <a:off x="829475" y="640080"/>
            <a:ext cx="5061890" cy="5577840"/>
          </a:xfrm>
          <a:prstGeom prst="rect">
            <a:avLst/>
          </a:prstGeom>
        </p:spPr>
      </p:pic>
      <p:sp>
        <p:nvSpPr>
          <p:cNvPr id="24"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4BF888-F78A-D86D-B006-630F4057B5B9}"/>
              </a:ext>
            </a:extLst>
          </p:cNvPr>
          <p:cNvSpPr>
            <a:spLocks noGrp="1"/>
          </p:cNvSpPr>
          <p:nvPr>
            <p:ph idx="1"/>
          </p:nvPr>
        </p:nvSpPr>
        <p:spPr>
          <a:xfrm>
            <a:off x="6739128" y="2664886"/>
            <a:ext cx="4818888" cy="3550789"/>
          </a:xfrm>
        </p:spPr>
        <p:txBody>
          <a:bodyPr anchor="t">
            <a:normAutofit/>
          </a:bodyPr>
          <a:lstStyle/>
          <a:p>
            <a:pPr marL="0" indent="0">
              <a:buNone/>
            </a:pPr>
            <a:r>
              <a:rPr lang="en-GB" sz="2200"/>
              <a:t>Waterfall methodology is a linear form of project management ideal for projects where the end result is clearly established from the beginning of the project. The expectations for the project and the deliverables of each stage are clear and are required in order to progress to the next phase.</a:t>
            </a:r>
          </a:p>
        </p:txBody>
      </p:sp>
    </p:spTree>
    <p:extLst>
      <p:ext uri="{BB962C8B-B14F-4D97-AF65-F5344CB8AC3E}">
        <p14:creationId xmlns:p14="http://schemas.microsoft.com/office/powerpoint/2010/main" val="18819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C50AFE-9DDA-8898-B2A3-99F9C3536A96}"/>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400" kern="1200">
                <a:solidFill>
                  <a:schemeClr val="tx1"/>
                </a:solidFill>
                <a:latin typeface="+mj-lt"/>
                <a:ea typeface="+mj-ea"/>
                <a:cs typeface="+mj-cs"/>
              </a:rPr>
              <a:t>Lean</a:t>
            </a:r>
          </a:p>
        </p:txBody>
      </p:sp>
      <p:sp>
        <p:nvSpPr>
          <p:cNvPr id="17"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2CD54D6-AFEA-697A-C5AE-363928A5E02D}"/>
              </a:ext>
            </a:extLst>
          </p:cNvPr>
          <p:cNvSpPr txBox="1"/>
          <p:nvPr/>
        </p:nvSpPr>
        <p:spPr>
          <a:xfrm>
            <a:off x="630936" y="2660904"/>
            <a:ext cx="4818888" cy="3547872"/>
          </a:xfrm>
          <a:prstGeom prst="rect">
            <a:avLst/>
          </a:prstGeom>
        </p:spPr>
        <p:txBody>
          <a:bodyPr vert="horz" lIns="91440" tIns="45720" rIns="91440" bIns="45720" rtlCol="0" anchor="t">
            <a:normAutofit/>
          </a:bodyPr>
          <a:lstStyle/>
          <a:p>
            <a:pPr>
              <a:lnSpc>
                <a:spcPct val="90000"/>
              </a:lnSpc>
              <a:spcAft>
                <a:spcPts val="600"/>
              </a:spcAft>
            </a:pPr>
            <a:r>
              <a:rPr lang="en-US" sz="1900" dirty="0"/>
              <a:t>Lean methodology is a set of practices and principles aimed at the optimization of business processes, eliminating waste and improving operational flow.</a:t>
            </a:r>
          </a:p>
          <a:p>
            <a:pPr indent="-228600">
              <a:lnSpc>
                <a:spcPct val="90000"/>
              </a:lnSpc>
              <a:spcAft>
                <a:spcPts val="600"/>
              </a:spcAft>
              <a:buFont typeface="Arial" panose="020B0604020202020204" pitchFamily="34" charset="0"/>
              <a:buChar char="•"/>
            </a:pPr>
            <a:endParaRPr lang="en-US" sz="1900" dirty="0"/>
          </a:p>
          <a:p>
            <a:pPr>
              <a:lnSpc>
                <a:spcPct val="90000"/>
              </a:lnSpc>
              <a:spcAft>
                <a:spcPts val="600"/>
              </a:spcAft>
            </a:pPr>
            <a:r>
              <a:rPr lang="en-US" sz="1900" dirty="0"/>
              <a:t>The ultimate goal is to create a system that maximizes value while minimizing resource consumption. Lean project management’s core principles and methodologies help teams focus on waste reduction and continuous process improvement.</a:t>
            </a:r>
          </a:p>
          <a:p>
            <a:pPr indent="-228600">
              <a:lnSpc>
                <a:spcPct val="90000"/>
              </a:lnSpc>
              <a:spcAft>
                <a:spcPts val="600"/>
              </a:spcAft>
              <a:buFont typeface="Arial" panose="020B0604020202020204" pitchFamily="34" charset="0"/>
              <a:buChar char="•"/>
            </a:pPr>
            <a:endParaRPr lang="en-US" sz="1900" dirty="0"/>
          </a:p>
        </p:txBody>
      </p:sp>
      <p:pic>
        <p:nvPicPr>
          <p:cNvPr id="5" name="Content Placeholder 4" descr="A diagram of a diagram&#10;&#10;Description automatically generated">
            <a:extLst>
              <a:ext uri="{FF2B5EF4-FFF2-40B4-BE49-F238E27FC236}">
                <a16:creationId xmlns:a16="http://schemas.microsoft.com/office/drawing/2014/main" id="{9F001D71-2FDA-6B8F-D582-0819B73235F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99048" y="1913814"/>
            <a:ext cx="5458968" cy="3030372"/>
          </a:xfrm>
          <a:prstGeom prst="rect">
            <a:avLst/>
          </a:prstGeom>
        </p:spPr>
      </p:pic>
    </p:spTree>
    <p:extLst>
      <p:ext uri="{BB962C8B-B14F-4D97-AF65-F5344CB8AC3E}">
        <p14:creationId xmlns:p14="http://schemas.microsoft.com/office/powerpoint/2010/main" val="604073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3E47266-4C30-AB95-52A2-4131CE853516}"/>
              </a:ext>
            </a:extLst>
          </p:cNvPr>
          <p:cNvSpPr txBox="1"/>
          <p:nvPr/>
        </p:nvSpPr>
        <p:spPr>
          <a:xfrm>
            <a:off x="630936" y="2660904"/>
            <a:ext cx="4818888" cy="3547872"/>
          </a:xfrm>
          <a:prstGeom prst="rect">
            <a:avLst/>
          </a:prstGeom>
        </p:spPr>
        <p:txBody>
          <a:bodyPr vert="horz" lIns="91440" tIns="45720" rIns="91440" bIns="45720" rtlCol="0" anchor="t">
            <a:normAutofit/>
          </a:bodyPr>
          <a:lstStyle/>
          <a:p>
            <a:pPr>
              <a:lnSpc>
                <a:spcPct val="90000"/>
              </a:lnSpc>
              <a:spcAft>
                <a:spcPts val="600"/>
              </a:spcAft>
            </a:pPr>
            <a:r>
              <a:rPr lang="en-US" sz="2200" dirty="0"/>
              <a:t>Depending on the specific features of your project, implementing it with Agile may be more suitable, or it might thrive with the Waterfall approach. To make sure you go for the most beneficial software methodology, it is recommended to carefully analyze the following factors:</a:t>
            </a:r>
          </a:p>
        </p:txBody>
      </p:sp>
      <p:graphicFrame>
        <p:nvGraphicFramePr>
          <p:cNvPr id="8" name="Content Placeholder 7">
            <a:extLst>
              <a:ext uri="{FF2B5EF4-FFF2-40B4-BE49-F238E27FC236}">
                <a16:creationId xmlns:a16="http://schemas.microsoft.com/office/drawing/2014/main" id="{2EAF4618-98A1-F195-68FC-16A4F0425F08}"/>
              </a:ext>
            </a:extLst>
          </p:cNvPr>
          <p:cNvGraphicFramePr>
            <a:graphicFrameLocks noGrp="1"/>
          </p:cNvGraphicFramePr>
          <p:nvPr>
            <p:ph idx="1"/>
            <p:extLst>
              <p:ext uri="{D42A27DB-BD31-4B8C-83A1-F6EECF244321}">
                <p14:modId xmlns:p14="http://schemas.microsoft.com/office/powerpoint/2010/main" val="189870885"/>
              </p:ext>
            </p:extLst>
          </p:nvPr>
        </p:nvGraphicFramePr>
        <p:xfrm>
          <a:off x="5549153" y="665896"/>
          <a:ext cx="5859511" cy="5097896"/>
        </p:xfrm>
        <a:graphic>
          <a:graphicData uri="http://schemas.openxmlformats.org/drawingml/2006/table">
            <a:tbl>
              <a:tblPr firstRow="1" bandRow="1">
                <a:noFill/>
                <a:tableStyleId>{5C22544A-7EE6-4342-B048-85BDC9FD1C3A}</a:tableStyleId>
              </a:tblPr>
              <a:tblGrid>
                <a:gridCol w="1685365">
                  <a:extLst>
                    <a:ext uri="{9D8B030D-6E8A-4147-A177-3AD203B41FA5}">
                      <a16:colId xmlns:a16="http://schemas.microsoft.com/office/drawing/2014/main" val="3941377645"/>
                    </a:ext>
                  </a:extLst>
                </a:gridCol>
                <a:gridCol w="1344706">
                  <a:extLst>
                    <a:ext uri="{9D8B030D-6E8A-4147-A177-3AD203B41FA5}">
                      <a16:colId xmlns:a16="http://schemas.microsoft.com/office/drawing/2014/main" val="3066282267"/>
                    </a:ext>
                  </a:extLst>
                </a:gridCol>
                <a:gridCol w="1380564">
                  <a:extLst>
                    <a:ext uri="{9D8B030D-6E8A-4147-A177-3AD203B41FA5}">
                      <a16:colId xmlns:a16="http://schemas.microsoft.com/office/drawing/2014/main" val="2435692388"/>
                    </a:ext>
                  </a:extLst>
                </a:gridCol>
                <a:gridCol w="1448876">
                  <a:extLst>
                    <a:ext uri="{9D8B030D-6E8A-4147-A177-3AD203B41FA5}">
                      <a16:colId xmlns:a16="http://schemas.microsoft.com/office/drawing/2014/main" val="2818061689"/>
                    </a:ext>
                  </a:extLst>
                </a:gridCol>
              </a:tblGrid>
              <a:tr h="514377">
                <a:tc>
                  <a:txBody>
                    <a:bodyPr/>
                    <a:lstStyle/>
                    <a:p>
                      <a:endParaRPr lang="en-GB" sz="1700" b="1">
                        <a:solidFill>
                          <a:schemeClr val="tx1">
                            <a:lumMod val="75000"/>
                            <a:lumOff val="25000"/>
                          </a:schemeClr>
                        </a:solidFill>
                      </a:endParaRPr>
                    </a:p>
                  </a:txBody>
                  <a:tcPr marL="216897" marR="108449" marT="108449" marB="108449">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r>
                        <a:rPr lang="en-GB" sz="1700" b="1">
                          <a:solidFill>
                            <a:schemeClr val="tx1">
                              <a:lumMod val="75000"/>
                              <a:lumOff val="25000"/>
                            </a:schemeClr>
                          </a:solidFill>
                        </a:rPr>
                        <a:t>Waterfall</a:t>
                      </a:r>
                    </a:p>
                  </a:txBody>
                  <a:tcPr marL="216897" marR="108449" marT="108449" marB="108449">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r>
                        <a:rPr lang="en-GB" sz="1700" b="1" dirty="0">
                          <a:solidFill>
                            <a:schemeClr val="tx1">
                              <a:lumMod val="75000"/>
                              <a:lumOff val="25000"/>
                            </a:schemeClr>
                          </a:solidFill>
                        </a:rPr>
                        <a:t>Lean</a:t>
                      </a:r>
                    </a:p>
                  </a:txBody>
                  <a:tcPr marL="216897" marR="108449" marT="108449" marB="108449">
                    <a:lnL w="12700" cmpd="sng">
                      <a:noFill/>
                      <a:prstDash val="solid"/>
                    </a:lnL>
                    <a:lnR w="12700" cmpd="sng">
                      <a:noFill/>
                      <a:prstDash val="solid"/>
                    </a:lnR>
                    <a:lnT w="12700" cmpd="sng">
                      <a:noFill/>
                      <a:prstDash val="solid"/>
                    </a:lnT>
                    <a:lnB w="9525" cap="flat" cmpd="sng" algn="ctr">
                      <a:solidFill>
                        <a:srgbClr val="D8DCDC"/>
                      </a:solidFill>
                      <a:prstDash val="solid"/>
                      <a:round/>
                      <a:headEnd type="none" w="med" len="med"/>
                      <a:tailEnd type="none" w="med" len="med"/>
                    </a:lnB>
                    <a:noFill/>
                  </a:tcPr>
                </a:tc>
                <a:tc>
                  <a:txBody>
                    <a:bodyPr/>
                    <a:lstStyle/>
                    <a:p>
                      <a:r>
                        <a:rPr lang="en-GB" sz="1700" b="1" dirty="0">
                          <a:solidFill>
                            <a:schemeClr val="tx1">
                              <a:lumMod val="75000"/>
                              <a:lumOff val="25000"/>
                            </a:schemeClr>
                          </a:solidFill>
                        </a:rPr>
                        <a:t>Agile</a:t>
                      </a:r>
                    </a:p>
                  </a:txBody>
                  <a:tcPr marL="216897" marR="108449" marT="108449" marB="108449">
                    <a:lnL w="12700" cmpd="sng">
                      <a:noFill/>
                      <a:prstDash val="solid"/>
                    </a:lnL>
                    <a:lnR w="12700" cmpd="sng">
                      <a:noFill/>
                      <a:prstDash val="solid"/>
                    </a:lnR>
                    <a:lnT w="12700" cmpd="sng">
                      <a:noFill/>
                      <a:prstDash val="solid"/>
                    </a:lnT>
                    <a:lnB w="9525" cap="flat" cmpd="sng" algn="ctr">
                      <a:solidFill>
                        <a:srgbClr val="D8DCDC"/>
                      </a:solidFill>
                      <a:prstDash val="solid"/>
                    </a:lnB>
                    <a:noFill/>
                  </a:tcPr>
                </a:tc>
                <a:extLst>
                  <a:ext uri="{0D108BD9-81ED-4DB2-BD59-A6C34878D82A}">
                    <a16:rowId xmlns:a16="http://schemas.microsoft.com/office/drawing/2014/main" val="1407701302"/>
                  </a:ext>
                </a:extLst>
              </a:tr>
              <a:tr h="514377">
                <a:tc>
                  <a:txBody>
                    <a:bodyPr/>
                    <a:lstStyle/>
                    <a:p>
                      <a:r>
                        <a:rPr lang="en-GB" sz="1700">
                          <a:solidFill>
                            <a:schemeClr val="tx1">
                              <a:lumMod val="75000"/>
                              <a:lumOff val="25000"/>
                            </a:schemeClr>
                          </a:solidFill>
                        </a:rPr>
                        <a:t>Requirements</a:t>
                      </a:r>
                    </a:p>
                  </a:txBody>
                  <a:tcPr marL="216897" marR="108449" marT="108449" marB="108449">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r>
                        <a:rPr lang="en-GB" sz="1700">
                          <a:solidFill>
                            <a:schemeClr val="tx1">
                              <a:lumMod val="75000"/>
                              <a:lumOff val="25000"/>
                            </a:schemeClr>
                          </a:solidFill>
                        </a:rPr>
                        <a:t>Clearly-defined</a:t>
                      </a:r>
                    </a:p>
                  </a:txBody>
                  <a:tcPr marL="216897" marR="108449" marT="108449" marB="108449">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r>
                        <a:rPr lang="en-GB" sz="1700" dirty="0">
                          <a:solidFill>
                            <a:schemeClr val="tx1">
                              <a:lumMod val="75000"/>
                              <a:lumOff val="25000"/>
                            </a:schemeClr>
                          </a:solidFill>
                        </a:rPr>
                        <a:t>Can Change</a:t>
                      </a:r>
                    </a:p>
                  </a:txBody>
                  <a:tcPr marL="216897" marR="108449" marT="108449" marB="108449">
                    <a:lnL w="9525" cap="flat" cmpd="sng" algn="ctr">
                      <a:solidFill>
                        <a:srgbClr val="D8DCDC"/>
                      </a:solidFill>
                      <a:prstDash val="solid"/>
                      <a:round/>
                      <a:headEnd type="none" w="med" len="med"/>
                      <a:tailEnd type="none" w="med" len="med"/>
                    </a:lnL>
                    <a:lnR w="9525" cap="flat" cmpd="sng" algn="ctr">
                      <a:solidFill>
                        <a:srgbClr val="D8DCDC"/>
                      </a:solidFill>
                      <a:prstDash val="solid"/>
                    </a:lnR>
                    <a:lnT w="9525" cap="flat" cmpd="sng" algn="ctr">
                      <a:solidFill>
                        <a:srgbClr val="D8DCDC"/>
                      </a:solidFill>
                      <a:prstDash val="solid"/>
                      <a:round/>
                      <a:headEnd type="none" w="med" len="med"/>
                      <a:tailEnd type="none" w="med" len="med"/>
                    </a:lnT>
                    <a:lnB w="9525" cap="flat" cmpd="sng" algn="ctr">
                      <a:solidFill>
                        <a:srgbClr val="D8DCDC"/>
                      </a:solidFill>
                      <a:prstDash val="solid"/>
                      <a:round/>
                      <a:headEnd type="none" w="med" len="med"/>
                      <a:tailEnd type="none" w="med" len="med"/>
                    </a:lnB>
                    <a:solidFill>
                      <a:srgbClr val="D8DEDC">
                        <a:alpha val="20000"/>
                      </a:srgbClr>
                    </a:solidFill>
                  </a:tcPr>
                </a:tc>
                <a:tc>
                  <a:txBody>
                    <a:bodyPr/>
                    <a:lstStyle/>
                    <a:p>
                      <a:r>
                        <a:rPr lang="en-GB" sz="1700" dirty="0">
                          <a:solidFill>
                            <a:schemeClr val="tx1">
                              <a:lumMod val="75000"/>
                              <a:lumOff val="25000"/>
                            </a:schemeClr>
                          </a:solidFill>
                        </a:rPr>
                        <a:t>Can Change</a:t>
                      </a:r>
                    </a:p>
                  </a:txBody>
                  <a:tcPr marL="216897" marR="108449" marT="108449" marB="108449">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717994198"/>
                  </a:ext>
                </a:extLst>
              </a:tr>
              <a:tr h="779982">
                <a:tc>
                  <a:txBody>
                    <a:bodyPr/>
                    <a:lstStyle/>
                    <a:p>
                      <a:r>
                        <a:rPr lang="en-GB" sz="1700">
                          <a:solidFill>
                            <a:schemeClr val="tx1">
                              <a:lumMod val="75000"/>
                              <a:lumOff val="25000"/>
                            </a:schemeClr>
                          </a:solidFill>
                        </a:rPr>
                        <a:t>Client Involvement</a:t>
                      </a:r>
                    </a:p>
                  </a:txBody>
                  <a:tcPr marL="216897" marR="108449" marT="108449" marB="108449">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r>
                        <a:rPr lang="en-GB" sz="1700" dirty="0">
                          <a:solidFill>
                            <a:schemeClr val="tx1">
                              <a:lumMod val="75000"/>
                              <a:lumOff val="25000"/>
                            </a:schemeClr>
                          </a:solidFill>
                        </a:rPr>
                        <a:t>×</a:t>
                      </a:r>
                    </a:p>
                  </a:txBody>
                  <a:tcPr marL="216897" marR="108449" marT="108449" marB="108449">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700" dirty="0">
                          <a:solidFill>
                            <a:schemeClr val="tx1">
                              <a:lumMod val="75000"/>
                              <a:lumOff val="25000"/>
                            </a:schemeClr>
                          </a:solidFill>
                        </a:rPr>
                        <a:t>✓</a:t>
                      </a:r>
                    </a:p>
                    <a:p>
                      <a:endParaRPr lang="en-GB" sz="1700" dirty="0">
                        <a:solidFill>
                          <a:schemeClr val="tx1">
                            <a:lumMod val="75000"/>
                            <a:lumOff val="25000"/>
                          </a:schemeClr>
                        </a:solidFill>
                      </a:endParaRPr>
                    </a:p>
                  </a:txBody>
                  <a:tcPr marL="216897" marR="108449" marT="108449" marB="108449">
                    <a:lnL w="9525" cap="flat" cmpd="sng" algn="ctr">
                      <a:solidFill>
                        <a:srgbClr val="D8DEDC"/>
                      </a:solidFill>
                      <a:prstDash val="solid"/>
                      <a:round/>
                      <a:headEnd type="none" w="med" len="med"/>
                      <a:tailEnd type="none" w="med" len="med"/>
                    </a:lnL>
                    <a:lnR w="9525" cap="flat" cmpd="sng" algn="ctr">
                      <a:solidFill>
                        <a:srgbClr val="D8DEDC"/>
                      </a:solidFill>
                      <a:prstDash val="solid"/>
                    </a:lnR>
                    <a:lnT w="9525" cap="flat" cmpd="sng" algn="ctr">
                      <a:solidFill>
                        <a:srgbClr val="D8DCDC"/>
                      </a:solidFill>
                      <a:prstDash val="solid"/>
                      <a:round/>
                      <a:headEnd type="none" w="med" len="med"/>
                      <a:tailEnd type="none" w="med" len="med"/>
                    </a:lnT>
                    <a:lnB w="9525" cap="flat" cmpd="sng" algn="ctr">
                      <a:solidFill>
                        <a:srgbClr val="D8DCDC"/>
                      </a:solidFill>
                      <a:prstDash val="solid"/>
                      <a:round/>
                      <a:headEnd type="none" w="med" len="med"/>
                      <a:tailEnd type="none" w="med" len="med"/>
                    </a:lnB>
                    <a:noFill/>
                  </a:tcPr>
                </a:tc>
                <a:tc>
                  <a:txBody>
                    <a:bodyPr/>
                    <a:lstStyle/>
                    <a:p>
                      <a:r>
                        <a:rPr lang="en-GB" sz="1700" dirty="0">
                          <a:solidFill>
                            <a:schemeClr val="tx1">
                              <a:lumMod val="75000"/>
                              <a:lumOff val="25000"/>
                            </a:schemeClr>
                          </a:solidFill>
                        </a:rPr>
                        <a:t>✓</a:t>
                      </a:r>
                    </a:p>
                  </a:txBody>
                  <a:tcPr marL="216897" marR="108449" marT="108449" marB="108449">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982002913"/>
                  </a:ext>
                </a:extLst>
              </a:tr>
              <a:tr h="514377">
                <a:tc>
                  <a:txBody>
                    <a:bodyPr/>
                    <a:lstStyle/>
                    <a:p>
                      <a:r>
                        <a:rPr lang="en-GB" sz="1700">
                          <a:solidFill>
                            <a:schemeClr val="tx1">
                              <a:lumMod val="75000"/>
                              <a:lumOff val="25000"/>
                            </a:schemeClr>
                          </a:solidFill>
                        </a:rPr>
                        <a:t>Time frame</a:t>
                      </a:r>
                    </a:p>
                  </a:txBody>
                  <a:tcPr marL="216897" marR="108449" marT="108449" marB="108449">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r>
                        <a:rPr lang="en-GB" sz="1700" dirty="0">
                          <a:solidFill>
                            <a:schemeClr val="tx1">
                              <a:lumMod val="75000"/>
                              <a:lumOff val="25000"/>
                            </a:schemeClr>
                          </a:solidFill>
                        </a:rPr>
                        <a:t>Strict</a:t>
                      </a:r>
                    </a:p>
                  </a:txBody>
                  <a:tcPr marL="216897" marR="108449" marT="108449" marB="108449">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r>
                        <a:rPr lang="en-GB" sz="1700" dirty="0">
                          <a:solidFill>
                            <a:schemeClr val="tx1">
                              <a:lumMod val="75000"/>
                              <a:lumOff val="25000"/>
                            </a:schemeClr>
                          </a:solidFill>
                        </a:rPr>
                        <a:t>Strict</a:t>
                      </a:r>
                    </a:p>
                  </a:txBody>
                  <a:tcPr marL="216897" marR="108449" marT="108449" marB="108449">
                    <a:lnL w="9525" cap="flat" cmpd="sng" algn="ctr">
                      <a:solidFill>
                        <a:srgbClr val="D8DCDC"/>
                      </a:solidFill>
                      <a:prstDash val="solid"/>
                      <a:round/>
                      <a:headEnd type="none" w="med" len="med"/>
                      <a:tailEnd type="none" w="med" len="med"/>
                    </a:lnL>
                    <a:lnR w="9525" cap="flat" cmpd="sng" algn="ctr">
                      <a:solidFill>
                        <a:srgbClr val="D8DCDC"/>
                      </a:solidFill>
                      <a:prstDash val="solid"/>
                    </a:lnR>
                    <a:lnT w="9525" cap="flat" cmpd="sng" algn="ctr">
                      <a:solidFill>
                        <a:srgbClr val="D8DCDC"/>
                      </a:solidFill>
                      <a:prstDash val="solid"/>
                      <a:round/>
                      <a:headEnd type="none" w="med" len="med"/>
                      <a:tailEnd type="none" w="med" len="med"/>
                    </a:lnT>
                    <a:lnB w="9525" cap="flat" cmpd="sng" algn="ctr">
                      <a:solidFill>
                        <a:srgbClr val="D8DCDC"/>
                      </a:solidFill>
                      <a:prstDash val="solid"/>
                      <a:round/>
                      <a:headEnd type="none" w="med" len="med"/>
                      <a:tailEnd type="none" w="med" len="med"/>
                    </a:lnB>
                    <a:solidFill>
                      <a:srgbClr val="D8DEDC">
                        <a:alpha val="20000"/>
                      </a:srgbClr>
                    </a:solidFill>
                  </a:tcPr>
                </a:tc>
                <a:tc>
                  <a:txBody>
                    <a:bodyPr/>
                    <a:lstStyle/>
                    <a:p>
                      <a:r>
                        <a:rPr lang="en-GB" sz="1700">
                          <a:solidFill>
                            <a:schemeClr val="tx1">
                              <a:lumMod val="75000"/>
                              <a:lumOff val="25000"/>
                            </a:schemeClr>
                          </a:solidFill>
                        </a:rPr>
                        <a:t>Loose</a:t>
                      </a:r>
                    </a:p>
                  </a:txBody>
                  <a:tcPr marL="216897" marR="108449" marT="108449" marB="108449">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56476847"/>
                  </a:ext>
                </a:extLst>
              </a:tr>
              <a:tr h="779982">
                <a:tc>
                  <a:txBody>
                    <a:bodyPr/>
                    <a:lstStyle/>
                    <a:p>
                      <a:r>
                        <a:rPr lang="en-GB" sz="1700">
                          <a:solidFill>
                            <a:schemeClr val="tx1">
                              <a:lumMod val="75000"/>
                              <a:lumOff val="25000"/>
                            </a:schemeClr>
                          </a:solidFill>
                        </a:rPr>
                        <a:t>Budget</a:t>
                      </a:r>
                    </a:p>
                  </a:txBody>
                  <a:tcPr marL="216897" marR="108449" marT="108449" marB="108449">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r>
                        <a:rPr lang="en-GB" sz="1700">
                          <a:solidFill>
                            <a:schemeClr val="tx1">
                              <a:lumMod val="75000"/>
                              <a:lumOff val="25000"/>
                            </a:schemeClr>
                          </a:solidFill>
                        </a:rPr>
                        <a:t>Strict</a:t>
                      </a:r>
                    </a:p>
                  </a:txBody>
                  <a:tcPr marL="216897" marR="108449" marT="108449" marB="108449">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r>
                        <a:rPr lang="en-GB" sz="1700" dirty="0">
                          <a:solidFill>
                            <a:schemeClr val="tx1">
                              <a:lumMod val="75000"/>
                              <a:lumOff val="25000"/>
                            </a:schemeClr>
                          </a:solidFill>
                        </a:rPr>
                        <a:t>Strict</a:t>
                      </a:r>
                    </a:p>
                  </a:txBody>
                  <a:tcPr marL="216897" marR="108449" marT="108449" marB="108449">
                    <a:lnL w="9525" cap="flat" cmpd="sng" algn="ctr">
                      <a:solidFill>
                        <a:srgbClr val="D8DEDC"/>
                      </a:solidFill>
                      <a:prstDash val="solid"/>
                      <a:round/>
                      <a:headEnd type="none" w="med" len="med"/>
                      <a:tailEnd type="none" w="med" len="med"/>
                    </a:lnL>
                    <a:lnR w="9525" cap="flat" cmpd="sng" algn="ctr">
                      <a:solidFill>
                        <a:srgbClr val="D8DEDC"/>
                      </a:solidFill>
                      <a:prstDash val="solid"/>
                    </a:lnR>
                    <a:lnT w="9525" cap="flat" cmpd="sng" algn="ctr">
                      <a:solidFill>
                        <a:srgbClr val="D8DCDC"/>
                      </a:solidFill>
                      <a:prstDash val="solid"/>
                      <a:round/>
                      <a:headEnd type="none" w="med" len="med"/>
                      <a:tailEnd type="none" w="med" len="med"/>
                    </a:lnT>
                    <a:lnB w="9525" cap="flat" cmpd="sng" algn="ctr">
                      <a:solidFill>
                        <a:srgbClr val="D8DCDC"/>
                      </a:solidFill>
                      <a:prstDash val="solid"/>
                      <a:round/>
                      <a:headEnd type="none" w="med" len="med"/>
                      <a:tailEnd type="none" w="med" len="med"/>
                    </a:lnB>
                    <a:noFill/>
                  </a:tcPr>
                </a:tc>
                <a:tc>
                  <a:txBody>
                    <a:bodyPr/>
                    <a:lstStyle/>
                    <a:p>
                      <a:r>
                        <a:rPr lang="en-GB" sz="1700">
                          <a:solidFill>
                            <a:schemeClr val="tx1">
                              <a:lumMod val="75000"/>
                              <a:lumOff val="25000"/>
                            </a:schemeClr>
                          </a:solidFill>
                        </a:rPr>
                        <a:t>Big or unlimited</a:t>
                      </a:r>
                    </a:p>
                  </a:txBody>
                  <a:tcPr marL="216897" marR="108449" marT="108449" marB="108449">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112851143"/>
                  </a:ext>
                </a:extLst>
              </a:tr>
              <a:tr h="779982">
                <a:tc>
                  <a:txBody>
                    <a:bodyPr/>
                    <a:lstStyle/>
                    <a:p>
                      <a:r>
                        <a:rPr lang="en-GB" sz="1700">
                          <a:solidFill>
                            <a:schemeClr val="tx1">
                              <a:lumMod val="75000"/>
                              <a:lumOff val="25000"/>
                            </a:schemeClr>
                          </a:solidFill>
                        </a:rPr>
                        <a:t>Team collaboration</a:t>
                      </a:r>
                    </a:p>
                  </a:txBody>
                  <a:tcPr marL="216897" marR="108449" marT="108449" marB="108449">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r>
                        <a:rPr lang="en-GB" sz="1700">
                          <a:solidFill>
                            <a:schemeClr val="tx1">
                              <a:lumMod val="75000"/>
                              <a:lumOff val="25000"/>
                            </a:schemeClr>
                          </a:solidFill>
                        </a:rPr>
                        <a:t>Moderate</a:t>
                      </a:r>
                    </a:p>
                  </a:txBody>
                  <a:tcPr marL="216897" marR="108449" marT="108449" marB="108449">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700" dirty="0">
                          <a:solidFill>
                            <a:schemeClr val="tx1">
                              <a:lumMod val="75000"/>
                              <a:lumOff val="25000"/>
                            </a:schemeClr>
                          </a:solidFill>
                        </a:rPr>
                        <a:t>Intensive</a:t>
                      </a:r>
                    </a:p>
                    <a:p>
                      <a:endParaRPr lang="en-GB" sz="1700" dirty="0">
                        <a:solidFill>
                          <a:schemeClr val="tx1">
                            <a:lumMod val="75000"/>
                            <a:lumOff val="25000"/>
                          </a:schemeClr>
                        </a:solidFill>
                      </a:endParaRPr>
                    </a:p>
                  </a:txBody>
                  <a:tcPr marL="216897" marR="108449" marT="108449" marB="108449">
                    <a:lnL w="9525" cap="flat" cmpd="sng" algn="ctr">
                      <a:solidFill>
                        <a:srgbClr val="D8DCDC"/>
                      </a:solidFill>
                      <a:prstDash val="solid"/>
                      <a:round/>
                      <a:headEnd type="none" w="med" len="med"/>
                      <a:tailEnd type="none" w="med" len="med"/>
                    </a:lnL>
                    <a:lnR w="9525" cap="flat" cmpd="sng" algn="ctr">
                      <a:solidFill>
                        <a:srgbClr val="D8DCDC"/>
                      </a:solidFill>
                      <a:prstDash val="solid"/>
                    </a:lnR>
                    <a:lnT w="9525" cap="flat" cmpd="sng" algn="ctr">
                      <a:solidFill>
                        <a:srgbClr val="D8DCDC"/>
                      </a:solidFill>
                      <a:prstDash val="solid"/>
                      <a:round/>
                      <a:headEnd type="none" w="med" len="med"/>
                      <a:tailEnd type="none" w="med" len="med"/>
                    </a:lnT>
                    <a:lnB w="9525" cap="flat" cmpd="sng" algn="ctr">
                      <a:solidFill>
                        <a:srgbClr val="D8DCDC"/>
                      </a:solidFill>
                      <a:prstDash val="solid"/>
                      <a:round/>
                      <a:headEnd type="none" w="med" len="med"/>
                      <a:tailEnd type="none" w="med" len="med"/>
                    </a:lnB>
                    <a:solidFill>
                      <a:srgbClr val="D8DEDC">
                        <a:alpha val="20000"/>
                      </a:srgbClr>
                    </a:solidFill>
                  </a:tcPr>
                </a:tc>
                <a:tc>
                  <a:txBody>
                    <a:bodyPr/>
                    <a:lstStyle/>
                    <a:p>
                      <a:r>
                        <a:rPr lang="en-GB" sz="1700" dirty="0">
                          <a:solidFill>
                            <a:schemeClr val="tx1">
                              <a:lumMod val="75000"/>
                              <a:lumOff val="25000"/>
                            </a:schemeClr>
                          </a:solidFill>
                        </a:rPr>
                        <a:t>Intensive</a:t>
                      </a:r>
                    </a:p>
                  </a:txBody>
                  <a:tcPr marL="216897" marR="108449" marT="108449" marB="108449">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045873382"/>
                  </a:ext>
                </a:extLst>
              </a:tr>
              <a:tr h="779982">
                <a:tc>
                  <a:txBody>
                    <a:bodyPr/>
                    <a:lstStyle/>
                    <a:p>
                      <a:r>
                        <a:rPr lang="en-GB" sz="1700">
                          <a:solidFill>
                            <a:schemeClr val="tx1">
                              <a:lumMod val="75000"/>
                              <a:lumOff val="25000"/>
                            </a:schemeClr>
                          </a:solidFill>
                        </a:rPr>
                        <a:t>Type</a:t>
                      </a:r>
                    </a:p>
                  </a:txBody>
                  <a:tcPr marL="216897" marR="108449" marT="108449" marB="108449">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r>
                        <a:rPr lang="en-GB" sz="1700" dirty="0">
                          <a:solidFill>
                            <a:schemeClr val="tx1">
                              <a:lumMod val="75000"/>
                              <a:lumOff val="25000"/>
                            </a:schemeClr>
                          </a:solidFill>
                        </a:rPr>
                        <a:t>Straight-forward solutions</a:t>
                      </a:r>
                    </a:p>
                  </a:txBody>
                  <a:tcPr marL="216897" marR="108449" marT="108449" marB="108449">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r>
                        <a:rPr lang="en-GB" sz="1700" dirty="0">
                          <a:solidFill>
                            <a:schemeClr val="tx1">
                              <a:lumMod val="75000"/>
                              <a:lumOff val="25000"/>
                            </a:schemeClr>
                          </a:solidFill>
                        </a:rPr>
                        <a:t>Urgent and Small Projects</a:t>
                      </a:r>
                    </a:p>
                  </a:txBody>
                  <a:tcPr marL="216897" marR="108449" marT="108449" marB="108449">
                    <a:lnL w="9525" cap="flat" cmpd="sng" algn="ctr">
                      <a:solidFill>
                        <a:srgbClr val="D8DEDC"/>
                      </a:solidFill>
                      <a:prstDash val="solid"/>
                      <a:round/>
                      <a:headEnd type="none" w="med" len="med"/>
                      <a:tailEnd type="none" w="med" len="med"/>
                    </a:lnL>
                    <a:lnR w="9525" cap="flat" cmpd="sng" algn="ctr">
                      <a:solidFill>
                        <a:srgbClr val="D8DEDC"/>
                      </a:solidFill>
                      <a:prstDash val="solid"/>
                    </a:lnR>
                    <a:lnT w="9525" cap="flat" cmpd="sng" algn="ctr">
                      <a:solidFill>
                        <a:srgbClr val="D8DCDC"/>
                      </a:solidFill>
                      <a:prstDash val="solid"/>
                      <a:round/>
                      <a:headEnd type="none" w="med" len="med"/>
                      <a:tailEnd type="none" w="med" len="med"/>
                    </a:lnT>
                    <a:lnB w="9525" cap="flat" cmpd="sng" algn="ctr">
                      <a:solidFill>
                        <a:srgbClr val="D8DEDC"/>
                      </a:solidFill>
                      <a:prstDash val="solid"/>
                    </a:lnB>
                    <a:noFill/>
                  </a:tcPr>
                </a:tc>
                <a:tc>
                  <a:txBody>
                    <a:bodyPr/>
                    <a:lstStyle/>
                    <a:p>
                      <a:r>
                        <a:rPr lang="en-GB" sz="1700" dirty="0">
                          <a:solidFill>
                            <a:schemeClr val="tx1">
                              <a:lumMod val="75000"/>
                              <a:lumOff val="25000"/>
                            </a:schemeClr>
                          </a:solidFill>
                        </a:rPr>
                        <a:t>Complex Projects</a:t>
                      </a:r>
                    </a:p>
                  </a:txBody>
                  <a:tcPr marL="216897" marR="108449" marT="108449" marB="108449">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extLst>
                  <a:ext uri="{0D108BD9-81ED-4DB2-BD59-A6C34878D82A}">
                    <a16:rowId xmlns:a16="http://schemas.microsoft.com/office/drawing/2014/main" val="1862316571"/>
                  </a:ext>
                </a:extLst>
              </a:tr>
            </a:tbl>
          </a:graphicData>
        </a:graphic>
      </p:graphicFrame>
    </p:spTree>
    <p:extLst>
      <p:ext uri="{BB962C8B-B14F-4D97-AF65-F5344CB8AC3E}">
        <p14:creationId xmlns:p14="http://schemas.microsoft.com/office/powerpoint/2010/main" val="2144323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9E3F8B-6950-ED14-A064-55392C411EF2}"/>
              </a:ext>
            </a:extLst>
          </p:cNvPr>
          <p:cNvSpPr>
            <a:spLocks noGrp="1"/>
          </p:cNvSpPr>
          <p:nvPr>
            <p:ph type="title"/>
          </p:nvPr>
        </p:nvSpPr>
        <p:spPr>
          <a:xfrm>
            <a:off x="841248" y="548640"/>
            <a:ext cx="3600860" cy="5431536"/>
          </a:xfrm>
        </p:spPr>
        <p:txBody>
          <a:bodyPr vert="horz" lIns="91440" tIns="45720" rIns="91440" bIns="45720" rtlCol="0" anchor="ctr">
            <a:normAutofit/>
          </a:bodyPr>
          <a:lstStyle/>
          <a:p>
            <a:r>
              <a:rPr lang="en-US" sz="5400" kern="1200">
                <a:solidFill>
                  <a:schemeClr val="tx1"/>
                </a:solidFill>
                <a:latin typeface="+mj-lt"/>
                <a:ea typeface="+mj-ea"/>
                <a:cs typeface="+mj-cs"/>
              </a:rPr>
              <a:t>Choosing Between Agile, Waterfall and Lean</a:t>
            </a:r>
          </a:p>
        </p:txBody>
      </p:sp>
      <p:sp>
        <p:nvSpPr>
          <p:cNvPr id="1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6EE58E6-1926-215E-93FC-962C53E52D1B}"/>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marL="0" indent="-228600">
              <a:lnSpc>
                <a:spcPct val="90000"/>
              </a:lnSpc>
              <a:buFont typeface="Arial" panose="020B0604020202020204" pitchFamily="34" charset="0"/>
              <a:buChar char="•"/>
            </a:pPr>
            <a:r>
              <a:rPr lang="en-US" sz="2000" dirty="0"/>
              <a:t>When Agile is ideal:</a:t>
            </a:r>
          </a:p>
          <a:p>
            <a:pPr>
              <a:lnSpc>
                <a:spcPct val="90000"/>
              </a:lnSpc>
            </a:pPr>
            <a:r>
              <a:rPr lang="en-US" sz="2000" dirty="0"/>
              <a:t>- Suitable for startups, innovative products, and continuous improvement initiatives.</a:t>
            </a:r>
          </a:p>
          <a:p>
            <a:pPr>
              <a:lnSpc>
                <a:spcPct val="90000"/>
              </a:lnSpc>
            </a:pPr>
            <a:r>
              <a:rPr lang="en-US" sz="2000" dirty="0"/>
              <a:t>- Requires active stakeholder involvement and dedicated resources.</a:t>
            </a:r>
          </a:p>
          <a:p>
            <a:pPr marL="0"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r>
              <a:rPr lang="en-US" sz="2000" dirty="0"/>
              <a:t>When Waterfall is ideal:</a:t>
            </a:r>
          </a:p>
          <a:p>
            <a:pPr>
              <a:lnSpc>
                <a:spcPct val="90000"/>
              </a:lnSpc>
              <a:spcAft>
                <a:spcPts val="600"/>
              </a:spcAft>
            </a:pPr>
            <a:r>
              <a:rPr lang="en-US" sz="2000" dirty="0"/>
              <a:t>- Commonly used in government contracts, large-scale infrastructure projects, and industries with regulatory compliance needs.</a:t>
            </a:r>
          </a:p>
          <a:p>
            <a:pPr>
              <a:lnSpc>
                <a:spcPct val="90000"/>
              </a:lnSpc>
              <a:spcAft>
                <a:spcPts val="600"/>
              </a:spcAft>
            </a:pPr>
            <a:r>
              <a:rPr lang="en-US" sz="2000" dirty="0"/>
              <a:t> - Offers predictability in project timelines and budgets</a:t>
            </a:r>
          </a:p>
          <a:p>
            <a:pPr indent="-228600">
              <a:lnSpc>
                <a:spcPct val="90000"/>
              </a:lnSpc>
              <a:spcAft>
                <a:spcPts val="600"/>
              </a:spcAft>
              <a:buFont typeface="Arial" panose="020B0604020202020204" pitchFamily="34" charset="0"/>
              <a:buChar char="•"/>
            </a:pPr>
            <a:endParaRPr lang="en-US" sz="2000" dirty="0"/>
          </a:p>
          <a:p>
            <a:pPr indent="-228600">
              <a:lnSpc>
                <a:spcPct val="90000"/>
              </a:lnSpc>
              <a:buFont typeface="Arial" panose="020B0604020202020204" pitchFamily="34" charset="0"/>
              <a:buChar char="•"/>
            </a:pPr>
            <a:r>
              <a:rPr lang="en-US" sz="2000" dirty="0"/>
              <a:t>When Lean is ideal:</a:t>
            </a:r>
          </a:p>
          <a:p>
            <a:pPr marL="57150">
              <a:lnSpc>
                <a:spcPct val="90000"/>
              </a:lnSpc>
            </a:pPr>
            <a:r>
              <a:rPr lang="en-US" sz="2000" dirty="0"/>
              <a:t>- Lean methods often work best in small projects with a short time frame.</a:t>
            </a:r>
          </a:p>
          <a:p>
            <a:pPr indent="-228600">
              <a:lnSpc>
                <a:spcPct val="90000"/>
              </a:lnSpc>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465817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09A12-6FDF-E340-EBC4-0411B5EB34DF}"/>
              </a:ext>
            </a:extLst>
          </p:cNvPr>
          <p:cNvSpPr>
            <a:spLocks noGrp="1"/>
          </p:cNvSpPr>
          <p:nvPr>
            <p:ph type="title"/>
          </p:nvPr>
        </p:nvSpPr>
        <p:spPr/>
        <p:txBody>
          <a:bodyPr/>
          <a:lstStyle/>
          <a:p>
            <a:r>
              <a:rPr lang="en-GB" dirty="0"/>
              <a:t>Famous Agile Project Management Success Stories:</a:t>
            </a:r>
          </a:p>
        </p:txBody>
      </p:sp>
      <p:sp>
        <p:nvSpPr>
          <p:cNvPr id="3" name="Content Placeholder 2">
            <a:extLst>
              <a:ext uri="{FF2B5EF4-FFF2-40B4-BE49-F238E27FC236}">
                <a16:creationId xmlns:a16="http://schemas.microsoft.com/office/drawing/2014/main" id="{F427BA39-C82B-0DD2-6BD5-6D38B6B2F1E1}"/>
              </a:ext>
            </a:extLst>
          </p:cNvPr>
          <p:cNvSpPr>
            <a:spLocks noGrp="1"/>
          </p:cNvSpPr>
          <p:nvPr>
            <p:ph idx="1"/>
          </p:nvPr>
        </p:nvSpPr>
        <p:spPr>
          <a:xfrm>
            <a:off x="3437467" y="1738313"/>
            <a:ext cx="8178799" cy="4754562"/>
          </a:xfrm>
        </p:spPr>
        <p:txBody>
          <a:bodyPr>
            <a:normAutofit/>
          </a:bodyPr>
          <a:lstStyle/>
          <a:p>
            <a:pPr marL="0" indent="0">
              <a:buNone/>
            </a:pPr>
            <a:r>
              <a:rPr lang="en-GB" sz="2400" dirty="0"/>
              <a:t>In 2014, Sony Interactive Entertainment deployed the Scaled Agile Framework (</a:t>
            </a:r>
            <a:r>
              <a:rPr lang="en-GB" sz="2400" dirty="0" err="1"/>
              <a:t>SAFe</a:t>
            </a:r>
            <a:r>
              <a:rPr lang="en-GB" sz="2400" dirty="0"/>
              <a:t>) to speed its delivery of new PlayStation releases. The traditional Waterfall technique had proved too slow for the speed of demand. But Scrum on its own was also problematic and failed to create coherence over a network of more than 1,000 engineers.</a:t>
            </a:r>
            <a:endParaRPr lang="ru-RU" sz="2400" dirty="0"/>
          </a:p>
          <a:p>
            <a:pPr marL="0" indent="0">
              <a:buNone/>
            </a:pPr>
            <a:endParaRPr lang="ru-RU" sz="2400" dirty="0"/>
          </a:p>
          <a:p>
            <a:pPr marL="0" indent="0">
              <a:buNone/>
            </a:pPr>
            <a:r>
              <a:rPr lang="en-GB" sz="2400" dirty="0"/>
              <a:t>The </a:t>
            </a:r>
            <a:r>
              <a:rPr lang="en-GB" sz="2400" dirty="0" err="1"/>
              <a:t>SAFe</a:t>
            </a:r>
            <a:r>
              <a:rPr lang="en-GB" sz="2400" dirty="0"/>
              <a:t> method brought teams into greater alignment. Teams worked in two-week sprints, while Agile Release Trains (ARTs) — essentially, teams </a:t>
            </a:r>
            <a:r>
              <a:rPr lang="en-GB" sz="2400"/>
              <a:t>of Scrum — </a:t>
            </a:r>
            <a:r>
              <a:rPr lang="en-GB" sz="2400" dirty="0"/>
              <a:t>met in person every 12 weeks to coordinate. The company’s director of engineering credited </a:t>
            </a:r>
            <a:r>
              <a:rPr lang="en-GB" sz="2400" dirty="0" err="1"/>
              <a:t>SAFe</a:t>
            </a:r>
            <a:r>
              <a:rPr lang="en-GB" sz="2400" dirty="0"/>
              <a:t> for savings of $30 million in its first year of implementation.</a:t>
            </a:r>
          </a:p>
          <a:p>
            <a:pPr marL="0" indent="0">
              <a:buNone/>
            </a:pPr>
            <a:endParaRPr lang="en-GB" dirty="0"/>
          </a:p>
          <a:p>
            <a:pPr marL="0" indent="0">
              <a:buNone/>
            </a:pPr>
            <a:endParaRPr lang="en-GB" dirty="0"/>
          </a:p>
        </p:txBody>
      </p:sp>
      <p:pic>
        <p:nvPicPr>
          <p:cNvPr id="13" name="Graphic 12">
            <a:extLst>
              <a:ext uri="{FF2B5EF4-FFF2-40B4-BE49-F238E27FC236}">
                <a16:creationId xmlns:a16="http://schemas.microsoft.com/office/drawing/2014/main" id="{F5304C84-1029-4C1A-F853-E9C7B9BF66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5734" y="2879088"/>
            <a:ext cx="2302933" cy="1784773"/>
          </a:xfrm>
          <a:prstGeom prst="rect">
            <a:avLst/>
          </a:prstGeom>
        </p:spPr>
      </p:pic>
    </p:spTree>
    <p:extLst>
      <p:ext uri="{BB962C8B-B14F-4D97-AF65-F5344CB8AC3E}">
        <p14:creationId xmlns:p14="http://schemas.microsoft.com/office/powerpoint/2010/main" val="32517798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TotalTime>
  <Words>1260</Words>
  <Application>Microsoft Office PowerPoint</Application>
  <PresentationFormat>Widescreen</PresentationFormat>
  <Paragraphs>120</Paragraphs>
  <Slides>12</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Overview of Agile  Project Management Methodology</vt:lpstr>
      <vt:lpstr>What is the Agile methodology?</vt:lpstr>
      <vt:lpstr>Life cycle of Agile Methodology</vt:lpstr>
      <vt:lpstr>Types of Agile methodologies</vt:lpstr>
      <vt:lpstr>Benefits of Agile Methodology</vt:lpstr>
      <vt:lpstr>Limitations of Agile Methodology</vt:lpstr>
      <vt:lpstr>Popular Agile Tools for Software Development</vt:lpstr>
      <vt:lpstr>Waterfall</vt:lpstr>
      <vt:lpstr>Lean</vt:lpstr>
      <vt:lpstr>PowerPoint Presentation</vt:lpstr>
      <vt:lpstr>Choosing Between Agile, Waterfall and Lean</vt:lpstr>
      <vt:lpstr>Famous Agile Project Management Success Stories: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Hanna Asiadouskaya</dc:creator>
  <cp:lastModifiedBy>Hanna Asiadouskaya</cp:lastModifiedBy>
  <cp:revision>15</cp:revision>
  <dcterms:created xsi:type="dcterms:W3CDTF">2024-11-01T10:27:15Z</dcterms:created>
  <dcterms:modified xsi:type="dcterms:W3CDTF">2024-11-04T14:57:19Z</dcterms:modified>
</cp:coreProperties>
</file>